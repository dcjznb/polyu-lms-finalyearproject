
<file path=[Content_Types].xml><?xml version="1.0" encoding="utf-8"?>
<Types xmlns="http://schemas.openxmlformats.org/package/2006/content-types"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9"/>
  </p:notesMasterIdLst>
  <p:handoutMasterIdLst>
    <p:handoutMasterId r:id="rId70"/>
  </p:handoutMasterIdLst>
  <p:sldIdLst>
    <p:sldId id="311" r:id="rId2"/>
    <p:sldId id="312" r:id="rId3"/>
    <p:sldId id="441" r:id="rId4"/>
    <p:sldId id="442" r:id="rId5"/>
    <p:sldId id="443" r:id="rId6"/>
    <p:sldId id="456" r:id="rId7"/>
    <p:sldId id="457" r:id="rId8"/>
    <p:sldId id="377" r:id="rId9"/>
    <p:sldId id="436" r:id="rId10"/>
    <p:sldId id="461" r:id="rId11"/>
    <p:sldId id="445" r:id="rId12"/>
    <p:sldId id="444" r:id="rId13"/>
    <p:sldId id="446" r:id="rId14"/>
    <p:sldId id="447" r:id="rId15"/>
    <p:sldId id="448" r:id="rId16"/>
    <p:sldId id="449" r:id="rId17"/>
    <p:sldId id="451" r:id="rId18"/>
    <p:sldId id="452" r:id="rId19"/>
    <p:sldId id="453" r:id="rId20"/>
    <p:sldId id="450" r:id="rId21"/>
    <p:sldId id="429" r:id="rId22"/>
    <p:sldId id="439" r:id="rId23"/>
    <p:sldId id="438" r:id="rId24"/>
    <p:sldId id="393" r:id="rId25"/>
    <p:sldId id="398" r:id="rId26"/>
    <p:sldId id="397" r:id="rId27"/>
    <p:sldId id="463" r:id="rId28"/>
    <p:sldId id="408" r:id="rId29"/>
    <p:sldId id="406" r:id="rId30"/>
    <p:sldId id="410" r:id="rId31"/>
    <p:sldId id="411" r:id="rId32"/>
    <p:sldId id="399" r:id="rId33"/>
    <p:sldId id="394" r:id="rId34"/>
    <p:sldId id="400" r:id="rId35"/>
    <p:sldId id="418" r:id="rId36"/>
    <p:sldId id="421" r:id="rId37"/>
    <p:sldId id="419" r:id="rId38"/>
    <p:sldId id="420" r:id="rId39"/>
    <p:sldId id="422" r:id="rId40"/>
    <p:sldId id="464" r:id="rId41"/>
    <p:sldId id="465" r:id="rId42"/>
    <p:sldId id="466" r:id="rId43"/>
    <p:sldId id="467" r:id="rId44"/>
    <p:sldId id="468" r:id="rId45"/>
    <p:sldId id="469" r:id="rId46"/>
    <p:sldId id="462" r:id="rId47"/>
    <p:sldId id="423" r:id="rId48"/>
    <p:sldId id="427" r:id="rId49"/>
    <p:sldId id="428" r:id="rId50"/>
    <p:sldId id="434" r:id="rId51"/>
    <p:sldId id="395" r:id="rId52"/>
    <p:sldId id="401" r:id="rId53"/>
    <p:sldId id="417" r:id="rId54"/>
    <p:sldId id="412" r:id="rId55"/>
    <p:sldId id="413" r:id="rId56"/>
    <p:sldId id="416" r:id="rId57"/>
    <p:sldId id="415" r:id="rId58"/>
    <p:sldId id="432" r:id="rId59"/>
    <p:sldId id="433" r:id="rId60"/>
    <p:sldId id="435" r:id="rId61"/>
    <p:sldId id="454" r:id="rId62"/>
    <p:sldId id="404" r:id="rId63"/>
    <p:sldId id="405" r:id="rId64"/>
    <p:sldId id="392" r:id="rId65"/>
    <p:sldId id="458" r:id="rId66"/>
    <p:sldId id="459" r:id="rId67"/>
    <p:sldId id="460" r:id="rId68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80"/>
    <a:srgbClr val="A50021"/>
    <a:srgbClr val="0066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64" autoAdjust="0"/>
    <p:restoredTop sz="94668" autoAdjust="0"/>
  </p:normalViewPr>
  <p:slideViewPr>
    <p:cSldViewPr snapToGrid="0">
      <p:cViewPr varScale="1">
        <p:scale>
          <a:sx n="140" d="100"/>
          <a:sy n="140" d="100"/>
        </p:scale>
        <p:origin x="17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92" d="100"/>
        <a:sy n="192" d="100"/>
      </p:scale>
      <p:origin x="0" y="-2202"/>
    </p:cViewPr>
  </p:sorterViewPr>
  <p:notesViewPr>
    <p:cSldViewPr snapToGrid="0">
      <p:cViewPr varScale="1">
        <p:scale>
          <a:sx n="72" d="100"/>
          <a:sy n="72" d="100"/>
        </p:scale>
        <p:origin x="3096" y="78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C228C-D218-495D-A886-42F7DDB9C1A7}" type="datetimeFigureOut">
              <a:rPr lang="en-US" smtClean="0"/>
              <a:t>9/1/25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5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0BF8D-4A40-4C2C-BEC7-DBCA88EC7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58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D1E2F-BBAD-924A-9415-F9ADD5387FA4}" type="datetimeFigureOut">
              <a:rPr lang="en-US" smtClean="0"/>
              <a:t>9/1/25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CF019-A9A4-F541-B5AA-44003FB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2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template.jpg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0371" y="3333750"/>
            <a:ext cx="3593630" cy="3524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7967" y="6297862"/>
            <a:ext cx="2725163" cy="35614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3336180"/>
            <a:ext cx="5550370" cy="352182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21731" y="3333750"/>
            <a:ext cx="5229706" cy="1543050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30321" y="4876800"/>
            <a:ext cx="5220050" cy="132979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174" y="6287061"/>
            <a:ext cx="821007" cy="49047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31" y="6316241"/>
            <a:ext cx="2024013" cy="4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8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template3.jpg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9515" y="3333750"/>
            <a:ext cx="3594485" cy="3524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7967" y="6297862"/>
            <a:ext cx="2725163" cy="35614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3336180"/>
            <a:ext cx="5550370" cy="352182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321731" y="3333750"/>
            <a:ext cx="5220281" cy="1543050"/>
          </a:xfrm>
        </p:spPr>
        <p:txBody>
          <a:bodyPr anchor="b">
            <a:normAutofit/>
          </a:bodyPr>
          <a:lstStyle>
            <a:lvl1pPr algn="l">
              <a:defRPr sz="4400" b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30320" y="4876800"/>
            <a:ext cx="5210643" cy="132979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174" y="6287061"/>
            <a:ext cx="821007" cy="4904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" y="6316242"/>
            <a:ext cx="2024013" cy="4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3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template6.jpg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9515" y="3333750"/>
            <a:ext cx="3594485" cy="352425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3336180"/>
            <a:ext cx="5550370" cy="352182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21731" y="3333750"/>
            <a:ext cx="5220281" cy="1543050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30320" y="4876800"/>
            <a:ext cx="5210643" cy="132979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7967" y="6297862"/>
            <a:ext cx="2725163" cy="3561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174" y="6287061"/>
            <a:ext cx="821007" cy="49047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20" y="6316242"/>
            <a:ext cx="2024013" cy="4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7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 template8.jpg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9515" y="3333750"/>
            <a:ext cx="3594485" cy="352425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3336180"/>
            <a:ext cx="5550370" cy="352182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21731" y="3333750"/>
            <a:ext cx="5220281" cy="1543050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30320" y="4876800"/>
            <a:ext cx="5210643" cy="132979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7967" y="6297862"/>
            <a:ext cx="2725163" cy="3561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21" y="193544"/>
            <a:ext cx="662597" cy="57002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174" y="6287061"/>
            <a:ext cx="821007" cy="49047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" y="6316242"/>
            <a:ext cx="2024013" cy="4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4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 template14.jpg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728613"/>
            <a:ext cx="8248650" cy="86875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803748"/>
            <a:ext cx="8248650" cy="437321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9920" y="6485133"/>
            <a:ext cx="3624080" cy="3787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6255" y="110702"/>
            <a:ext cx="1675211" cy="3214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160" y="6337528"/>
            <a:ext cx="664594" cy="3970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19" y="6349404"/>
            <a:ext cx="1778206" cy="37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44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pt template15.jpg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724566"/>
            <a:ext cx="8248650" cy="79359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52603"/>
            <a:ext cx="8248650" cy="4424359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6255" y="110702"/>
            <a:ext cx="1675211" cy="3214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9920" y="6485133"/>
            <a:ext cx="3624080" cy="37872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44" y="6332008"/>
            <a:ext cx="664594" cy="3970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19" y="6349404"/>
            <a:ext cx="1778206" cy="37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9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pt template.jpg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712872"/>
            <a:ext cx="5706532" cy="34333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733" y="1717928"/>
            <a:ext cx="5383497" cy="2052996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484" y="3776670"/>
            <a:ext cx="5388747" cy="13749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9920" y="6485133"/>
            <a:ext cx="3624080" cy="3787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4528" y="249182"/>
            <a:ext cx="2716292" cy="52128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361" y="6244029"/>
            <a:ext cx="821007" cy="49047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84" y="6259759"/>
            <a:ext cx="1942619" cy="41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7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 template2.jpg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712872"/>
            <a:ext cx="5706532" cy="34333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733" y="1717928"/>
            <a:ext cx="5383497" cy="2052996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484" y="3776670"/>
            <a:ext cx="5388747" cy="13749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9920" y="6485133"/>
            <a:ext cx="3624080" cy="37872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4528" y="249182"/>
            <a:ext cx="2716292" cy="5212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361" y="6244029"/>
            <a:ext cx="821007" cy="49047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26" y="6277765"/>
            <a:ext cx="1942619" cy="41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1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700" y="565479"/>
            <a:ext cx="8248650" cy="1075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810011"/>
            <a:ext cx="8248650" cy="4366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659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76" r:id="rId3"/>
    <p:sldLayoutId id="2147483678" r:id="rId4"/>
    <p:sldLayoutId id="2147483663" r:id="rId5"/>
    <p:sldLayoutId id="2147483679" r:id="rId6"/>
    <p:sldLayoutId id="2147483664" r:id="rId7"/>
    <p:sldLayoutId id="214748368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2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457200" indent="-3600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ebookcentral.proquest.com/lib/polyu-ebooks/detail.action?docID=2166415" TargetMode="External"/><Relationship Id="rId2" Type="http://schemas.openxmlformats.org/officeDocument/2006/relationships/hyperlink" Target="https://ebookcentral.proquest.com/lib/polyu-ebooks/detail.action?docID=5774742" TargetMode="Externa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mailto:johnny.wan@polyu.edu.hk" TargetMode="External"/><Relationship Id="rId2" Type="http://schemas.openxmlformats.org/officeDocument/2006/relationships/hyperlink" Target="mailto:judy.fa.tong@polyu.edu.hk" TargetMode="Externa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658" y="3311611"/>
            <a:ext cx="5428637" cy="235176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HK" sz="3600" b="1" dirty="0">
                <a:solidFill>
                  <a:srgbClr val="800080"/>
                </a:solidFill>
              </a:rPr>
              <a:t>Week 1 – Overview of Capstone Project, Finalised Proposal and Progress Report Writing</a:t>
            </a:r>
            <a:endParaRPr lang="en-US" sz="3600" b="1" dirty="0">
              <a:solidFill>
                <a:srgbClr val="800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282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12DBA56-5B8D-758D-A388-07DD0CC7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898" y="562935"/>
            <a:ext cx="4124325" cy="840136"/>
          </a:xfrm>
        </p:spPr>
        <p:txBody>
          <a:bodyPr/>
          <a:lstStyle/>
          <a:p>
            <a:pPr algn="ctr"/>
            <a:r>
              <a:rPr lang="en-GB" altLang="zh-HK" dirty="0">
                <a:ea typeface="新細明體" panose="02020500000000000000" pitchFamily="18" charset="-120"/>
              </a:rPr>
              <a:t>About myself</a:t>
            </a:r>
            <a:endParaRPr lang="zh-HK" altLang="en-US" dirty="0">
              <a:ea typeface="新細明體" panose="02020500000000000000" pitchFamily="18" charset="-120"/>
            </a:endParaRPr>
          </a:p>
        </p:txBody>
      </p:sp>
      <p:pic>
        <p:nvPicPr>
          <p:cNvPr id="15364" name="Picture 5">
            <a:extLst>
              <a:ext uri="{FF2B5EF4-FFF2-40B4-BE49-F238E27FC236}">
                <a16:creationId xmlns:a16="http://schemas.microsoft.com/office/drawing/2014/main" id="{5D36FA9F-4E10-9A1A-A558-F577FC4F2F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462449"/>
            <a:ext cx="3127470" cy="219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6">
            <a:extLst>
              <a:ext uri="{FF2B5EF4-FFF2-40B4-BE49-F238E27FC236}">
                <a16:creationId xmlns:a16="http://schemas.microsoft.com/office/drawing/2014/main" id="{3412F8DC-B790-D8AA-651D-BD483A0AD6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603" y="5104812"/>
            <a:ext cx="2498144" cy="134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7">
            <a:extLst>
              <a:ext uri="{FF2B5EF4-FFF2-40B4-BE49-F238E27FC236}">
                <a16:creationId xmlns:a16="http://schemas.microsoft.com/office/drawing/2014/main" id="{C7B556EE-9A25-2BC5-1A76-3FDD872CD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390" y="3684027"/>
            <a:ext cx="1662322" cy="97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9">
            <a:extLst>
              <a:ext uri="{FF2B5EF4-FFF2-40B4-BE49-F238E27FC236}">
                <a16:creationId xmlns:a16="http://schemas.microsoft.com/office/drawing/2014/main" id="{F3125835-A36C-3036-7F41-4E2128FE1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3207" y="2778539"/>
            <a:ext cx="2352219" cy="55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9" name="TextBox 3">
            <a:extLst>
              <a:ext uri="{FF2B5EF4-FFF2-40B4-BE49-F238E27FC236}">
                <a16:creationId xmlns:a16="http://schemas.microsoft.com/office/drawing/2014/main" id="{081A41E0-211F-6FBC-FD30-8B53B4909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525" y="6519863"/>
            <a:ext cx="7315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HK" sz="800" dirty="0">
                <a:solidFill>
                  <a:schemeClr val="tx2"/>
                </a:solidFill>
                <a:ea typeface="新細明體" panose="02020500000000000000" pitchFamily="18" charset="-120"/>
              </a:rPr>
              <a:t>Photos source: https://www.google.com.hk/search?q=hkdl&amp;safe=strict&amp;biw=1202&amp;bih=581&amp;source=lnms&amp;tbm=isch&amp;sa=X&amp;ved=0ahUKEwjqg-766MnRAhWBtJQKHVZ-A2AQ_AUIBigB </a:t>
            </a:r>
            <a:endParaRPr lang="zh-HK" altLang="en-US" sz="800">
              <a:solidFill>
                <a:schemeClr val="tx2"/>
              </a:solidFill>
              <a:ea typeface="新細明體" panose="02020500000000000000" pitchFamily="18" charset="-120"/>
            </a:endParaRP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C18F98B0-A61B-EFB6-0899-75479690C2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597" y="1912569"/>
            <a:ext cx="3610929" cy="588586"/>
          </a:xfrm>
          <a:prstGeom prst="rect">
            <a:avLst/>
          </a:prstGeom>
        </p:spPr>
      </p:pic>
      <p:pic>
        <p:nvPicPr>
          <p:cNvPr id="4" name="Picture 3" descr="A person wearing a mask&#10;&#10;Description automatically generated with low confidence">
            <a:extLst>
              <a:ext uri="{FF2B5EF4-FFF2-40B4-BE49-F238E27FC236}">
                <a16:creationId xmlns:a16="http://schemas.microsoft.com/office/drawing/2014/main" id="{502562C7-4E8C-2314-F795-C6B7D3F0C4E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689" y="545278"/>
            <a:ext cx="1906193" cy="3388788"/>
          </a:xfrm>
          <a:prstGeom prst="rect">
            <a:avLst/>
          </a:prstGeom>
        </p:spPr>
      </p:pic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37603AC7-F08F-7542-E5E3-B0C35A6CB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97" y="2722563"/>
            <a:ext cx="5841315" cy="5105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HK" sz="2000" b="1" dirty="0">
                <a:ea typeface="新細明體" panose="02020500000000000000" pitchFamily="18" charset="-120"/>
              </a:rPr>
              <a:t>Dr. Judy TONG (</a:t>
            </a:r>
            <a:r>
              <a:rPr lang="zh-HK" altLang="en-US" sz="2000" b="1" dirty="0">
                <a:ea typeface="新細明體" panose="02020500000000000000" pitchFamily="18" charset="-120"/>
              </a:rPr>
              <a:t>唐杏花</a:t>
            </a:r>
            <a:r>
              <a:rPr lang="en-US" altLang="zh-HK" sz="2000" b="1" dirty="0">
                <a:ea typeface="新細明體" panose="02020500000000000000" pitchFamily="18" charset="-120"/>
              </a:rPr>
              <a:t>)</a:t>
            </a:r>
          </a:p>
          <a:p>
            <a:pPr marL="0" indent="0"/>
            <a:r>
              <a:rPr lang="en-US" altLang="zh-HK" sz="2000" dirty="0">
                <a:ea typeface="新細明體" panose="02020500000000000000" pitchFamily="18" charset="-120"/>
              </a:rPr>
              <a:t> BEng (Hons) and MPhil in HKUST</a:t>
            </a:r>
          </a:p>
          <a:p>
            <a:pPr marL="0" indent="0"/>
            <a:r>
              <a:rPr lang="en-US" altLang="zh-HK" sz="2000" dirty="0">
                <a:ea typeface="新細明體" panose="02020500000000000000" pitchFamily="18" charset="-120"/>
              </a:rPr>
              <a:t> Working experience in maritime industry:  </a:t>
            </a:r>
          </a:p>
          <a:p>
            <a:pPr marL="0" indent="0">
              <a:buNone/>
            </a:pPr>
            <a:r>
              <a:rPr lang="en-US" altLang="zh-HK" sz="2000" dirty="0">
                <a:ea typeface="新細明體" panose="02020500000000000000" pitchFamily="18" charset="-120"/>
              </a:rPr>
              <a:t>    Shipping line &amp; Container Terminal</a:t>
            </a:r>
          </a:p>
          <a:p>
            <a:pPr marL="0" indent="0"/>
            <a:r>
              <a:rPr lang="en-US" altLang="zh-HK" sz="2000" dirty="0">
                <a:ea typeface="新細明體" panose="02020500000000000000" pitchFamily="18" charset="-120"/>
              </a:rPr>
              <a:t> Grand opening team in theme park</a:t>
            </a:r>
          </a:p>
          <a:p>
            <a:pPr marL="0" indent="0"/>
            <a:r>
              <a:rPr lang="en-US" altLang="zh-HK" sz="2000" dirty="0">
                <a:ea typeface="新細明體" panose="02020500000000000000" pitchFamily="18" charset="-120"/>
              </a:rPr>
              <a:t> Before returning to school: Port &amp; terminal </a:t>
            </a:r>
          </a:p>
          <a:p>
            <a:pPr marL="0" indent="0">
              <a:buNone/>
            </a:pPr>
            <a:r>
              <a:rPr lang="en-US" altLang="zh-HK" sz="2000" dirty="0">
                <a:ea typeface="新細明體" panose="02020500000000000000" pitchFamily="18" charset="-120"/>
              </a:rPr>
              <a:t>   operations and management</a:t>
            </a:r>
          </a:p>
          <a:p>
            <a:pPr marL="0" indent="0"/>
            <a:r>
              <a:rPr lang="en-US" altLang="zh-HK" sz="2000" dirty="0">
                <a:ea typeface="新細明體" panose="02020500000000000000" pitchFamily="18" charset="-120"/>
              </a:rPr>
              <a:t> Combine experiences:  modern development </a:t>
            </a:r>
          </a:p>
          <a:p>
            <a:pPr marL="0" indent="0">
              <a:buNone/>
            </a:pPr>
            <a:r>
              <a:rPr lang="en-US" altLang="zh-HK" sz="2000" dirty="0">
                <a:ea typeface="新細明體" panose="02020500000000000000" pitchFamily="18" charset="-120"/>
              </a:rPr>
              <a:t>   in maritime and logistics industry </a:t>
            </a:r>
          </a:p>
        </p:txBody>
      </p:sp>
      <p:pic>
        <p:nvPicPr>
          <p:cNvPr id="15367" name="Picture 8">
            <a:extLst>
              <a:ext uri="{FF2B5EF4-FFF2-40B4-BE49-F238E27FC236}">
                <a16:creationId xmlns:a16="http://schemas.microsoft.com/office/drawing/2014/main" id="{748123F4-898E-0EEF-AE75-E174064985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712" y="4411956"/>
            <a:ext cx="1906193" cy="830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519599-0B96-B72D-3557-3BE12C6DD4E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28033" y="494436"/>
            <a:ext cx="1968437" cy="3728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39A2E-5130-801F-0267-F8CFF05E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967" y="4381733"/>
            <a:ext cx="5220281" cy="1543050"/>
          </a:xfrm>
        </p:spPr>
        <p:txBody>
          <a:bodyPr/>
          <a:lstStyle/>
          <a:p>
            <a:r>
              <a:rPr lang="en-HK" b="1" dirty="0">
                <a:solidFill>
                  <a:schemeClr val="accent5">
                    <a:lumMod val="75000"/>
                  </a:schemeClr>
                </a:solidFill>
              </a:rPr>
              <a:t>Capstone Project Coordinators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FB5B6-7B7A-09C5-7028-64BD4AC55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4913" y="5836885"/>
            <a:ext cx="5210643" cy="386281"/>
          </a:xfrm>
        </p:spPr>
        <p:txBody>
          <a:bodyPr/>
          <a:lstStyle/>
          <a:p>
            <a:r>
              <a:rPr lang="en-HK" dirty="0"/>
              <a:t>Dr Patrick Tsang and Dr Judy Tong</a:t>
            </a:r>
          </a:p>
        </p:txBody>
      </p:sp>
      <p:pic>
        <p:nvPicPr>
          <p:cNvPr id="7" name="Picture 6" descr="Guilty Chicken">
            <a:extLst>
              <a:ext uri="{FF2B5EF4-FFF2-40B4-BE49-F238E27FC236}">
                <a16:creationId xmlns:a16="http://schemas.microsoft.com/office/drawing/2014/main" id="{BBE4872C-4EC9-2D83-0D12-DD0281D8E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51" y="-90257"/>
            <a:ext cx="3810000" cy="3810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3AC0121-0388-4B58-4648-BA22A9FD9F98}"/>
              </a:ext>
            </a:extLst>
          </p:cNvPr>
          <p:cNvGrpSpPr/>
          <p:nvPr/>
        </p:nvGrpSpPr>
        <p:grpSpPr>
          <a:xfrm>
            <a:off x="330837" y="0"/>
            <a:ext cx="5628425" cy="4469631"/>
            <a:chOff x="373216" y="89286"/>
            <a:chExt cx="5628425" cy="44696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3D699B2-BAC4-3F08-08DB-1053E2065867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73216" y="89286"/>
              <a:ext cx="5628425" cy="446963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E6B25CF-A1D6-4A29-DFE4-AB927D856113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 rot="20985317">
              <a:off x="701613" y="319111"/>
              <a:ext cx="3065718" cy="42310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720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A1337D-DA32-F8E1-3DF7-E3F54B8C995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47" y="0"/>
            <a:ext cx="9137905" cy="6858000"/>
          </a:xfrm>
          <a:prstGeom prst="rect">
            <a:avLst/>
          </a:prstGeom>
        </p:spPr>
      </p:pic>
      <p:pic>
        <p:nvPicPr>
          <p:cNvPr id="11" name="Picture 10" descr="Celebration Chicken">
            <a:extLst>
              <a:ext uri="{FF2B5EF4-FFF2-40B4-BE49-F238E27FC236}">
                <a16:creationId xmlns:a16="http://schemas.microsoft.com/office/drawing/2014/main" id="{9F2EA04A-7364-6D96-B469-DE5A43A310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444" y="3048000"/>
            <a:ext cx="3810000" cy="3810000"/>
          </a:xfrm>
          <a:prstGeom prst="rect">
            <a:avLst/>
          </a:prstGeom>
        </p:spPr>
      </p:pic>
      <p:pic>
        <p:nvPicPr>
          <p:cNvPr id="21" name="Picture 20" descr="Friendship Chicken">
            <a:extLst>
              <a:ext uri="{FF2B5EF4-FFF2-40B4-BE49-F238E27FC236}">
                <a16:creationId xmlns:a16="http://schemas.microsoft.com/office/drawing/2014/main" id="{4AC2B018-D17D-A03C-39CD-067CC80EBF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515" y="3121196"/>
            <a:ext cx="3810000" cy="3810000"/>
          </a:xfrm>
          <a:prstGeom prst="rect">
            <a:avLst/>
          </a:prstGeom>
        </p:spPr>
      </p:pic>
      <p:pic>
        <p:nvPicPr>
          <p:cNvPr id="25" name="Picture 24" descr="Not Impressed Chicken">
            <a:extLst>
              <a:ext uri="{FF2B5EF4-FFF2-40B4-BE49-F238E27FC236}">
                <a16:creationId xmlns:a16="http://schemas.microsoft.com/office/drawing/2014/main" id="{69D83930-958B-1104-AFD0-E3FBAA027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3142" y="-49841"/>
            <a:ext cx="3810000" cy="3810000"/>
          </a:xfrm>
          <a:prstGeom prst="rect">
            <a:avLst/>
          </a:prstGeom>
        </p:spPr>
      </p:pic>
      <p:pic>
        <p:nvPicPr>
          <p:cNvPr id="27" name="Picture 26" descr="Taking Notes Chicken">
            <a:extLst>
              <a:ext uri="{FF2B5EF4-FFF2-40B4-BE49-F238E27FC236}">
                <a16:creationId xmlns:a16="http://schemas.microsoft.com/office/drawing/2014/main" id="{864ED1FB-D0C0-0733-282C-4E85578F6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74" y="-49841"/>
            <a:ext cx="3810000" cy="3810000"/>
          </a:xfrm>
          <a:prstGeom prst="rect">
            <a:avLst/>
          </a:prstGeom>
        </p:spPr>
      </p:pic>
      <p:pic>
        <p:nvPicPr>
          <p:cNvPr id="29" name="Picture 28" descr="Thumbs Up Chicken">
            <a:extLst>
              <a:ext uri="{FF2B5EF4-FFF2-40B4-BE49-F238E27FC236}">
                <a16:creationId xmlns:a16="http://schemas.microsoft.com/office/drawing/2014/main" id="{ECF1A79A-CCA6-9066-49E6-7A67DBC727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235" y="-75281"/>
            <a:ext cx="3810000" cy="3810000"/>
          </a:xfrm>
          <a:prstGeom prst="rect">
            <a:avLst/>
          </a:prstGeom>
        </p:spPr>
      </p:pic>
      <p:pic>
        <p:nvPicPr>
          <p:cNvPr id="31" name="Picture 30" descr="Well Done Chicken">
            <a:extLst>
              <a:ext uri="{FF2B5EF4-FFF2-40B4-BE49-F238E27FC236}">
                <a16:creationId xmlns:a16="http://schemas.microsoft.com/office/drawing/2014/main" id="{D0616F26-2CDC-2BE8-3490-7948450188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934" y="-49841"/>
            <a:ext cx="3810000" cy="3810000"/>
          </a:xfrm>
          <a:prstGeom prst="rect">
            <a:avLst/>
          </a:prstGeom>
        </p:spPr>
      </p:pic>
      <p:pic>
        <p:nvPicPr>
          <p:cNvPr id="15" name="Picture 14" descr="Curious Chicken">
            <a:extLst>
              <a:ext uri="{FF2B5EF4-FFF2-40B4-BE49-F238E27FC236}">
                <a16:creationId xmlns:a16="http://schemas.microsoft.com/office/drawing/2014/main" id="{D81913EB-2B7D-BD39-F856-8E502D53B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135" y="3639493"/>
            <a:ext cx="2817071" cy="2817071"/>
          </a:xfrm>
          <a:prstGeom prst="rect">
            <a:avLst/>
          </a:prstGeom>
        </p:spPr>
      </p:pic>
      <p:pic>
        <p:nvPicPr>
          <p:cNvPr id="12" name="Picture 11" descr="A picture containing bowed instrument&#10;&#10;Description automatically generated">
            <a:extLst>
              <a:ext uri="{FF2B5EF4-FFF2-40B4-BE49-F238E27FC236}">
                <a16:creationId xmlns:a16="http://schemas.microsoft.com/office/drawing/2014/main" id="{AD259728-ABBA-4CF2-CC9B-275CEB650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518" y="1055564"/>
            <a:ext cx="5167857" cy="5167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81FE77-7CEC-A4A0-CF6A-AAB879337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4493" y="3266768"/>
            <a:ext cx="8023279" cy="599058"/>
          </a:xfrm>
        </p:spPr>
        <p:txBody>
          <a:bodyPr>
            <a:normAutofit fontScale="90000"/>
          </a:bodyPr>
          <a:lstStyle/>
          <a:p>
            <a:r>
              <a:rPr lang="en-HK" b="1" dirty="0">
                <a:solidFill>
                  <a:schemeClr val="accent5">
                    <a:lumMod val="75000"/>
                  </a:schemeClr>
                </a:solidFill>
              </a:rPr>
              <a:t>Capstone Project Coordinators</a:t>
            </a:r>
          </a:p>
        </p:txBody>
      </p:sp>
    </p:spTree>
    <p:extLst>
      <p:ext uri="{BB962C8B-B14F-4D97-AF65-F5344CB8AC3E}">
        <p14:creationId xmlns:p14="http://schemas.microsoft.com/office/powerpoint/2010/main" val="4392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29185-BCFB-36F5-FC3C-AF3DE3DBD043}"/>
              </a:ext>
            </a:extLst>
          </p:cNvPr>
          <p:cNvSpPr/>
          <p:nvPr/>
        </p:nvSpPr>
        <p:spPr>
          <a:xfrm>
            <a:off x="0" y="0"/>
            <a:ext cx="91350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9" name="Picture 8" descr="Ashamed Chicken">
            <a:extLst>
              <a:ext uri="{FF2B5EF4-FFF2-40B4-BE49-F238E27FC236}">
                <a16:creationId xmlns:a16="http://schemas.microsoft.com/office/drawing/2014/main" id="{742AB965-A507-F107-55DC-71AD9C4D9F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3303" y="3296694"/>
            <a:ext cx="3810000" cy="3810000"/>
          </a:xfrm>
          <a:prstGeom prst="rect">
            <a:avLst/>
          </a:prstGeom>
        </p:spPr>
      </p:pic>
      <p:pic>
        <p:nvPicPr>
          <p:cNvPr id="13" name="Picture 12" descr="Crying Chicken">
            <a:extLst>
              <a:ext uri="{FF2B5EF4-FFF2-40B4-BE49-F238E27FC236}">
                <a16:creationId xmlns:a16="http://schemas.microsoft.com/office/drawing/2014/main" id="{646EBF8A-FE5C-45A5-2CD9-5BBF5603B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856" y="3222262"/>
            <a:ext cx="3810000" cy="3810000"/>
          </a:xfrm>
          <a:prstGeom prst="rect">
            <a:avLst/>
          </a:prstGeom>
        </p:spPr>
      </p:pic>
      <p:pic>
        <p:nvPicPr>
          <p:cNvPr id="17" name="Picture 16" descr="Disagree Chicken">
            <a:extLst>
              <a:ext uri="{FF2B5EF4-FFF2-40B4-BE49-F238E27FC236}">
                <a16:creationId xmlns:a16="http://schemas.microsoft.com/office/drawing/2014/main" id="{9F96B567-4CAE-030F-F17D-7348E95C0B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326" y="235690"/>
            <a:ext cx="3810000" cy="3810000"/>
          </a:xfrm>
          <a:prstGeom prst="rect">
            <a:avLst/>
          </a:prstGeom>
        </p:spPr>
      </p:pic>
      <p:pic>
        <p:nvPicPr>
          <p:cNvPr id="19" name="Picture 18" descr="Fascinated Chicken">
            <a:extLst>
              <a:ext uri="{FF2B5EF4-FFF2-40B4-BE49-F238E27FC236}">
                <a16:creationId xmlns:a16="http://schemas.microsoft.com/office/drawing/2014/main" id="{9974EF7E-B2FB-8E9C-DD77-C6A47807CB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468" y="3331814"/>
            <a:ext cx="3810000" cy="3810000"/>
          </a:xfrm>
          <a:prstGeom prst="rect">
            <a:avLst/>
          </a:prstGeom>
        </p:spPr>
      </p:pic>
      <p:pic>
        <p:nvPicPr>
          <p:cNvPr id="33" name="Picture 32" descr="Wondering Chicken">
            <a:extLst>
              <a:ext uri="{FF2B5EF4-FFF2-40B4-BE49-F238E27FC236}">
                <a16:creationId xmlns:a16="http://schemas.microsoft.com/office/drawing/2014/main" id="{917F3562-DE89-D861-5916-D79E1864B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1580" y="-48782"/>
            <a:ext cx="3810000" cy="381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C6280E-0CA5-0B8E-3FF3-46AFC6D8465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92979" y="198144"/>
            <a:ext cx="3810330" cy="3810330"/>
          </a:xfrm>
          <a:prstGeom prst="rect">
            <a:avLst/>
          </a:prstGeom>
        </p:spPr>
      </p:pic>
      <p:sp>
        <p:nvSpPr>
          <p:cNvPr id="6" name="&quot;Not Allowed&quot; Symbol 5">
            <a:extLst>
              <a:ext uri="{FF2B5EF4-FFF2-40B4-BE49-F238E27FC236}">
                <a16:creationId xmlns:a16="http://schemas.microsoft.com/office/drawing/2014/main" id="{B197FCA1-7664-158C-4FB6-CB111BEF0A60}"/>
              </a:ext>
            </a:extLst>
          </p:cNvPr>
          <p:cNvSpPr/>
          <p:nvPr/>
        </p:nvSpPr>
        <p:spPr>
          <a:xfrm>
            <a:off x="1109032" y="644179"/>
            <a:ext cx="6142755" cy="5861461"/>
          </a:xfrm>
          <a:prstGeom prst="noSmoking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B103E3-0609-E506-0E36-7C33B05D6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876" y="3381484"/>
            <a:ext cx="8023279" cy="599058"/>
          </a:xfrm>
        </p:spPr>
        <p:txBody>
          <a:bodyPr>
            <a:normAutofit fontScale="90000"/>
          </a:bodyPr>
          <a:lstStyle/>
          <a:p>
            <a:r>
              <a:rPr lang="en-HK" b="1" dirty="0">
                <a:solidFill>
                  <a:schemeClr val="accent5">
                    <a:lumMod val="75000"/>
                  </a:schemeClr>
                </a:solidFill>
              </a:rPr>
              <a:t>Capstone Project Coordinators</a:t>
            </a:r>
          </a:p>
        </p:txBody>
      </p:sp>
    </p:spTree>
    <p:extLst>
      <p:ext uri="{BB962C8B-B14F-4D97-AF65-F5344CB8AC3E}">
        <p14:creationId xmlns:p14="http://schemas.microsoft.com/office/powerpoint/2010/main" val="387469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D9BC-83E5-EC88-ECE5-B9C7299FF8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A074F-2BA6-7C99-B465-404FCFBE36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75B489-033D-5922-89A3-771F46A6F950}"/>
              </a:ext>
            </a:extLst>
          </p:cNvPr>
          <p:cNvSpPr/>
          <p:nvPr/>
        </p:nvSpPr>
        <p:spPr>
          <a:xfrm>
            <a:off x="0" y="0"/>
            <a:ext cx="91350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DC0992-AE33-0943-619E-E0F5157329F4}"/>
              </a:ext>
            </a:extLst>
          </p:cNvPr>
          <p:cNvSpPr txBox="1">
            <a:spLocks/>
          </p:cNvSpPr>
          <p:nvPr/>
        </p:nvSpPr>
        <p:spPr>
          <a:xfrm>
            <a:off x="515275" y="452878"/>
            <a:ext cx="8248650" cy="6425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accent2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u="sng" dirty="0"/>
              <a:t>Who is your Capstone Project Supervisor?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5F8603-FA4E-B0B6-D6C4-7665EC1D7794}"/>
              </a:ext>
            </a:extLst>
          </p:cNvPr>
          <p:cNvSpPr txBox="1">
            <a:spLocks/>
          </p:cNvSpPr>
          <p:nvPr/>
        </p:nvSpPr>
        <p:spPr>
          <a:xfrm>
            <a:off x="515275" y="1181572"/>
            <a:ext cx="9034625" cy="489185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None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Name: __________________________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Office: __________________________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Email: ___________________________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Office phone number: _______________________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Have class(es) in semester 1? If yes, DOW? ________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Research Area? ______________________________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Expectation from him/her ? ____________________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HK" sz="3000" dirty="0">
              <a:solidFill>
                <a:schemeClr val="tx1"/>
              </a:solidFill>
            </a:endParaRPr>
          </a:p>
          <a:p>
            <a:pPr marL="97200"/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D075AD-47AC-CAE4-9FB0-BFD4AB4A001F}"/>
              </a:ext>
            </a:extLst>
          </p:cNvPr>
          <p:cNvSpPr/>
          <p:nvPr/>
        </p:nvSpPr>
        <p:spPr>
          <a:xfrm>
            <a:off x="8886548" y="0"/>
            <a:ext cx="57880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35108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6555-36C4-B518-2B89-317EAE2619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07795-3895-E7B2-A6CF-3B0E4899D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042E96-8E8C-4182-F669-03C279D305D4}"/>
              </a:ext>
            </a:extLst>
          </p:cNvPr>
          <p:cNvSpPr/>
          <p:nvPr/>
        </p:nvSpPr>
        <p:spPr>
          <a:xfrm>
            <a:off x="0" y="0"/>
            <a:ext cx="91350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5" name="Picture 4" descr="Well Done Chicken">
            <a:extLst>
              <a:ext uri="{FF2B5EF4-FFF2-40B4-BE49-F238E27FC236}">
                <a16:creationId xmlns:a16="http://schemas.microsoft.com/office/drawing/2014/main" id="{ED9B4F01-898E-C40B-8349-7DD3938D2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042" y="1311007"/>
            <a:ext cx="5716134" cy="5716134"/>
          </a:xfrm>
          <a:prstGeom prst="rect">
            <a:avLst/>
          </a:prstGeom>
        </p:spPr>
      </p:pic>
      <p:pic>
        <p:nvPicPr>
          <p:cNvPr id="7" name="Graphic 6" descr="Group of people outline">
            <a:extLst>
              <a:ext uri="{FF2B5EF4-FFF2-40B4-BE49-F238E27FC236}">
                <a16:creationId xmlns:a16="http://schemas.microsoft.com/office/drawing/2014/main" id="{F4FFA6CC-842F-7806-95FA-4C5549615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3322091" y="2175147"/>
            <a:ext cx="2090505" cy="2090505"/>
          </a:xfrm>
          <a:prstGeom prst="rect">
            <a:avLst/>
          </a:prstGeom>
        </p:spPr>
      </p:pic>
      <p:pic>
        <p:nvPicPr>
          <p:cNvPr id="9" name="Graphic 8" descr="Hurdle outline">
            <a:extLst>
              <a:ext uri="{FF2B5EF4-FFF2-40B4-BE49-F238E27FC236}">
                <a16:creationId xmlns:a16="http://schemas.microsoft.com/office/drawing/2014/main" id="{8F8822B2-33DF-CD4C-E41F-586C05C8E6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6375000" y="430422"/>
            <a:ext cx="2505675" cy="2505675"/>
          </a:xfrm>
          <a:prstGeom prst="rect">
            <a:avLst/>
          </a:prstGeom>
        </p:spPr>
      </p:pic>
      <p:pic>
        <p:nvPicPr>
          <p:cNvPr id="11" name="Graphic 10" descr="Group of people with solid fill">
            <a:extLst>
              <a:ext uri="{FF2B5EF4-FFF2-40B4-BE49-F238E27FC236}">
                <a16:creationId xmlns:a16="http://schemas.microsoft.com/office/drawing/2014/main" id="{5BE2E4AA-6182-0BB3-FA2F-B1AE4B10CE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3846784" y="4408885"/>
            <a:ext cx="2177032" cy="2177032"/>
          </a:xfrm>
          <a:prstGeom prst="rect">
            <a:avLst/>
          </a:prstGeom>
        </p:spPr>
      </p:pic>
      <p:pic>
        <p:nvPicPr>
          <p:cNvPr id="13" name="Graphic 12" descr="Users outline">
            <a:extLst>
              <a:ext uri="{FF2B5EF4-FFF2-40B4-BE49-F238E27FC236}">
                <a16:creationId xmlns:a16="http://schemas.microsoft.com/office/drawing/2014/main" id="{179518FF-2D08-4C9B-D638-F84E12B595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4235011" y="197271"/>
            <a:ext cx="2177033" cy="2177033"/>
          </a:xfrm>
          <a:prstGeom prst="rect">
            <a:avLst/>
          </a:prstGeom>
        </p:spPr>
      </p:pic>
      <p:pic>
        <p:nvPicPr>
          <p:cNvPr id="15" name="Graphic 14" descr="Group of men with solid fill">
            <a:extLst>
              <a:ext uri="{FF2B5EF4-FFF2-40B4-BE49-F238E27FC236}">
                <a16:creationId xmlns:a16="http://schemas.microsoft.com/office/drawing/2014/main" id="{86BF7175-83D7-801C-CFA0-14903A8ED4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5969989" y="4370309"/>
            <a:ext cx="914400" cy="914400"/>
          </a:xfrm>
          <a:prstGeom prst="rect">
            <a:avLst/>
          </a:prstGeom>
        </p:spPr>
      </p:pic>
      <p:pic>
        <p:nvPicPr>
          <p:cNvPr id="17" name="Graphic 16" descr="Group of men outline">
            <a:extLst>
              <a:ext uri="{FF2B5EF4-FFF2-40B4-BE49-F238E27FC236}">
                <a16:creationId xmlns:a16="http://schemas.microsoft.com/office/drawing/2014/main" id="{588CC83F-9186-65FB-E0AA-1FD93FA1007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5635588" y="3312676"/>
            <a:ext cx="914400" cy="914400"/>
          </a:xfrm>
          <a:prstGeom prst="rect">
            <a:avLst/>
          </a:prstGeom>
        </p:spPr>
      </p:pic>
      <p:pic>
        <p:nvPicPr>
          <p:cNvPr id="19" name="Graphic 18" descr="Hierarchy outline">
            <a:extLst>
              <a:ext uri="{FF2B5EF4-FFF2-40B4-BE49-F238E27FC236}">
                <a16:creationId xmlns:a16="http://schemas.microsoft.com/office/drawing/2014/main" id="{B3D50653-D74A-E9B6-B520-A72815B4B9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43226" y="160269"/>
            <a:ext cx="1641898" cy="1641898"/>
          </a:xfrm>
          <a:prstGeom prst="rect">
            <a:avLst/>
          </a:prstGeom>
        </p:spPr>
      </p:pic>
      <p:pic>
        <p:nvPicPr>
          <p:cNvPr id="21" name="Graphic 20" descr="Meeting outline">
            <a:extLst>
              <a:ext uri="{FF2B5EF4-FFF2-40B4-BE49-F238E27FC236}">
                <a16:creationId xmlns:a16="http://schemas.microsoft.com/office/drawing/2014/main" id="{E27D6E82-AF38-365C-C720-C282BA5A232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921551" y="79258"/>
            <a:ext cx="2177033" cy="2177033"/>
          </a:xfrm>
          <a:prstGeom prst="rect">
            <a:avLst/>
          </a:prstGeom>
        </p:spPr>
      </p:pic>
      <p:pic>
        <p:nvPicPr>
          <p:cNvPr id="22" name="Graphic 21" descr="Group of men outline">
            <a:extLst>
              <a:ext uri="{FF2B5EF4-FFF2-40B4-BE49-F238E27FC236}">
                <a16:creationId xmlns:a16="http://schemas.microsoft.com/office/drawing/2014/main" id="{D9566ACA-185F-0658-827F-67B2925A113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651540" y="3312676"/>
            <a:ext cx="914400" cy="914400"/>
          </a:xfrm>
          <a:prstGeom prst="rect">
            <a:avLst/>
          </a:prstGeom>
        </p:spPr>
      </p:pic>
      <p:pic>
        <p:nvPicPr>
          <p:cNvPr id="23" name="Graphic 22" descr="Group of men with solid fill">
            <a:extLst>
              <a:ext uri="{FF2B5EF4-FFF2-40B4-BE49-F238E27FC236}">
                <a16:creationId xmlns:a16="http://schemas.microsoft.com/office/drawing/2014/main" id="{FF68F6F5-157F-1D9A-8F6F-86E19AE712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6643564" y="3318671"/>
            <a:ext cx="914400" cy="914400"/>
          </a:xfrm>
          <a:prstGeom prst="rect">
            <a:avLst/>
          </a:prstGeom>
        </p:spPr>
      </p:pic>
      <p:pic>
        <p:nvPicPr>
          <p:cNvPr id="24" name="Graphic 23" descr="Group of men outline">
            <a:extLst>
              <a:ext uri="{FF2B5EF4-FFF2-40B4-BE49-F238E27FC236}">
                <a16:creationId xmlns:a16="http://schemas.microsoft.com/office/drawing/2014/main" id="{B359D873-5C29-2B04-F938-344CF6E9DA5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063508" y="4370309"/>
            <a:ext cx="914400" cy="914400"/>
          </a:xfrm>
          <a:prstGeom prst="rect">
            <a:avLst/>
          </a:prstGeom>
        </p:spPr>
      </p:pic>
      <p:pic>
        <p:nvPicPr>
          <p:cNvPr id="25" name="Graphic 24" descr="Group of men outline">
            <a:extLst>
              <a:ext uri="{FF2B5EF4-FFF2-40B4-BE49-F238E27FC236}">
                <a16:creationId xmlns:a16="http://schemas.microsoft.com/office/drawing/2014/main" id="{94C6D3BB-0C70-B17C-4DD1-9EB83396CF6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8004859" y="43703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3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What is capstone project all about?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What is needed in your finalised proposal?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What to include in your progress report?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HK" sz="3000" dirty="0">
                <a:solidFill>
                  <a:schemeClr val="tx1"/>
                </a:solidFill>
              </a:rPr>
              <a:t>Introduction to Library Resources (Mr. William Ho)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HK" sz="3000" dirty="0">
              <a:solidFill>
                <a:schemeClr val="tx1"/>
              </a:solidFill>
            </a:endParaRPr>
          </a:p>
          <a:p>
            <a:pPr marL="9720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0472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3"/>
          <p:cNvSpPr>
            <a:spLocks noGrp="1"/>
          </p:cNvSpPr>
          <p:nvPr>
            <p:ph type="title"/>
          </p:nvPr>
        </p:nvSpPr>
        <p:spPr>
          <a:xfrm>
            <a:off x="322263" y="1717675"/>
            <a:ext cx="5383212" cy="2052638"/>
          </a:xfrm>
        </p:spPr>
        <p:txBody>
          <a:bodyPr/>
          <a:lstStyle/>
          <a:p>
            <a:pPr eaLnBrk="1" hangingPunct="1"/>
            <a:r>
              <a:rPr lang="en-US" altLang="en-US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086299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3"/>
          <p:cNvSpPr>
            <a:spLocks noGrp="1"/>
          </p:cNvSpPr>
          <p:nvPr>
            <p:ph type="title"/>
          </p:nvPr>
        </p:nvSpPr>
        <p:spPr>
          <a:xfrm>
            <a:off x="322263" y="1717675"/>
            <a:ext cx="5383212" cy="2052638"/>
          </a:xfrm>
        </p:spPr>
        <p:txBody>
          <a:bodyPr/>
          <a:lstStyle/>
          <a:p>
            <a:pPr eaLnBrk="1" hangingPunct="1"/>
            <a:r>
              <a:rPr lang="en-HK" altLang="en-US" b="1" dirty="0"/>
              <a:t>What is capstone project all about?</a:t>
            </a:r>
          </a:p>
        </p:txBody>
      </p:sp>
    </p:spTree>
    <p:extLst>
      <p:ext uri="{BB962C8B-B14F-4D97-AF65-F5344CB8AC3E}">
        <p14:creationId xmlns:p14="http://schemas.microsoft.com/office/powerpoint/2010/main" val="314967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AD0E-A82D-CC2C-13C0-831DA480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63516-287F-3117-D460-83B1BBCB2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BD936-EAA5-53C1-EA07-77DCF7BF35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DB6B98-9FA9-FF4C-6927-739823EBD4F1}"/>
              </a:ext>
            </a:extLst>
          </p:cNvPr>
          <p:cNvSpPr txBox="1">
            <a:spLocks/>
          </p:cNvSpPr>
          <p:nvPr/>
        </p:nvSpPr>
        <p:spPr>
          <a:xfrm>
            <a:off x="316484" y="1507045"/>
            <a:ext cx="8704305" cy="502920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rgbClr val="FF0000"/>
                </a:solidFill>
              </a:rPr>
              <a:t>In Jun 2023, a question from your job interviewer like this: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000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rgbClr val="FF0000"/>
                </a:solidFill>
              </a:rPr>
              <a:t>Q: Please elaborate your final year project, include your key learnings.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rgbClr val="00B050"/>
                </a:solidFill>
              </a:rPr>
              <a:t>A: Yes, let me talk about my final year project. It is a project focusing on…….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rgbClr val="FF0000"/>
                </a:solidFill>
              </a:rPr>
              <a:t>Q: Could you share your grade with me?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rgbClr val="00B050"/>
                </a:solidFill>
              </a:rPr>
              <a:t>A: Yes…..(your real feeling would be A, B, C or D?)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76B4E1-ACA1-3840-BEC5-58B72815E484}"/>
              </a:ext>
            </a:extLst>
          </p:cNvPr>
          <p:cNvSpPr/>
          <p:nvPr/>
        </p:nvSpPr>
        <p:spPr>
          <a:xfrm>
            <a:off x="-571930" y="221945"/>
            <a:ext cx="10059347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HK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</a:rPr>
              <a:t>A real final conclusion of your study from </a:t>
            </a:r>
          </a:p>
          <a:p>
            <a:pPr algn="ctr"/>
            <a:r>
              <a:rPr lang="en-HK" sz="3200" b="1" u="sng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</a:rPr>
              <a:t>someone’s point of view</a:t>
            </a:r>
            <a:r>
              <a:rPr lang="en-HK" sz="3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highlight>
                  <a:srgbClr val="FFFF00"/>
                </a:highlight>
              </a:rPr>
              <a:t>:</a:t>
            </a:r>
            <a:endParaRPr lang="en-GB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5" name="Picture 14" descr="Surprised O Fox">
            <a:extLst>
              <a:ext uri="{FF2B5EF4-FFF2-40B4-BE49-F238E27FC236}">
                <a16:creationId xmlns:a16="http://schemas.microsoft.com/office/drawing/2014/main" id="{8DBFE266-016D-BF6B-B4BE-A6B1BD1988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032" y="4639889"/>
            <a:ext cx="1759484" cy="175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4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AD0E-A82D-CC2C-13C0-831DA480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63516-287F-3117-D460-83B1BBCB2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BD936-EAA5-53C1-EA07-77DCF7BF35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6" name="Picture 5" descr="Celebrate O Fox">
            <a:extLst>
              <a:ext uri="{FF2B5EF4-FFF2-40B4-BE49-F238E27FC236}">
                <a16:creationId xmlns:a16="http://schemas.microsoft.com/office/drawing/2014/main" id="{E214926D-286B-F611-AC9F-74BC2EAD6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843" y="-598244"/>
            <a:ext cx="3943390" cy="3943390"/>
          </a:xfrm>
          <a:prstGeom prst="rect">
            <a:avLst/>
          </a:prstGeom>
        </p:spPr>
      </p:pic>
      <p:pic>
        <p:nvPicPr>
          <p:cNvPr id="8" name="Picture 7" descr="Crying O Fox">
            <a:extLst>
              <a:ext uri="{FF2B5EF4-FFF2-40B4-BE49-F238E27FC236}">
                <a16:creationId xmlns:a16="http://schemas.microsoft.com/office/drawing/2014/main" id="{EFDB1D35-7C42-61F2-EFAB-A8D3A4257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1" y="3009416"/>
            <a:ext cx="3949102" cy="3949102"/>
          </a:xfrm>
          <a:prstGeom prst="rect">
            <a:avLst/>
          </a:prstGeom>
        </p:spPr>
      </p:pic>
      <p:pic>
        <p:nvPicPr>
          <p:cNvPr id="10" name="Picture 9" descr="Face Palm O Fox">
            <a:extLst>
              <a:ext uri="{FF2B5EF4-FFF2-40B4-BE49-F238E27FC236}">
                <a16:creationId xmlns:a16="http://schemas.microsoft.com/office/drawing/2014/main" id="{748F7F45-B35A-B419-EF96-6825F4225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500" y="2914609"/>
            <a:ext cx="3810000" cy="3810000"/>
          </a:xfrm>
          <a:prstGeom prst="rect">
            <a:avLst/>
          </a:prstGeom>
        </p:spPr>
      </p:pic>
      <p:pic>
        <p:nvPicPr>
          <p:cNvPr id="12" name="Picture 11" descr="OMG O Fox">
            <a:extLst>
              <a:ext uri="{FF2B5EF4-FFF2-40B4-BE49-F238E27FC236}">
                <a16:creationId xmlns:a16="http://schemas.microsoft.com/office/drawing/2014/main" id="{2AE26F15-C7F1-AE70-76E1-7D470D020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1" y="-901103"/>
            <a:ext cx="3810000" cy="381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F8B403-9DEA-0EB6-005D-5BE887401F44}"/>
              </a:ext>
            </a:extLst>
          </p:cNvPr>
          <p:cNvSpPr txBox="1"/>
          <p:nvPr/>
        </p:nvSpPr>
        <p:spPr>
          <a:xfrm>
            <a:off x="2672179" y="1731049"/>
            <a:ext cx="9321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66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EDE796-75BC-C8A3-434C-6367DA1B25DE}"/>
              </a:ext>
            </a:extLst>
          </p:cNvPr>
          <p:cNvSpPr txBox="1"/>
          <p:nvPr/>
        </p:nvSpPr>
        <p:spPr>
          <a:xfrm>
            <a:off x="8211845" y="1673223"/>
            <a:ext cx="9321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66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2E2256-248E-58E6-4B49-3E5D0E587F2F}"/>
              </a:ext>
            </a:extLst>
          </p:cNvPr>
          <p:cNvSpPr txBox="1"/>
          <p:nvPr/>
        </p:nvSpPr>
        <p:spPr>
          <a:xfrm>
            <a:off x="221941" y="4093906"/>
            <a:ext cx="9321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66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BED826-B5DA-A1C5-A78D-AFE8313BBCD8}"/>
              </a:ext>
            </a:extLst>
          </p:cNvPr>
          <p:cNvSpPr txBox="1"/>
          <p:nvPr/>
        </p:nvSpPr>
        <p:spPr>
          <a:xfrm>
            <a:off x="5741919" y="4429969"/>
            <a:ext cx="9321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66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12949E-E5D4-4C28-9C78-D839866B4F79}"/>
              </a:ext>
            </a:extLst>
          </p:cNvPr>
          <p:cNvSpPr txBox="1"/>
          <p:nvPr/>
        </p:nvSpPr>
        <p:spPr>
          <a:xfrm>
            <a:off x="139102" y="3023199"/>
            <a:ext cx="7399801" cy="64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Q: Could you share your grade with me?</a:t>
            </a:r>
          </a:p>
        </p:txBody>
      </p:sp>
    </p:spTree>
    <p:extLst>
      <p:ext uri="{BB962C8B-B14F-4D97-AF65-F5344CB8AC3E}">
        <p14:creationId xmlns:p14="http://schemas.microsoft.com/office/powerpoint/2010/main" val="5519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AD0E-A82D-CC2C-13C0-831DA480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63516-287F-3117-D460-83B1BBCB2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BD936-EAA5-53C1-EA07-77DCF7BF35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9A313C-99B8-4288-926C-C57036ADFCD0}"/>
              </a:ext>
            </a:extLst>
          </p:cNvPr>
          <p:cNvSpPr txBox="1">
            <a:spLocks/>
          </p:cNvSpPr>
          <p:nvPr/>
        </p:nvSpPr>
        <p:spPr>
          <a:xfrm>
            <a:off x="175315" y="89877"/>
            <a:ext cx="7399801" cy="64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Future boss will look like this?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6D5867D-71F1-5095-4E4C-EC4373611FDF}"/>
              </a:ext>
            </a:extLst>
          </p:cNvPr>
          <p:cNvGrpSpPr/>
          <p:nvPr/>
        </p:nvGrpSpPr>
        <p:grpSpPr>
          <a:xfrm>
            <a:off x="245900" y="850795"/>
            <a:ext cx="3562340" cy="2522446"/>
            <a:chOff x="245900" y="850795"/>
            <a:chExt cx="3562340" cy="2522446"/>
          </a:xfrm>
        </p:grpSpPr>
        <p:pic>
          <p:nvPicPr>
            <p:cNvPr id="29" name="Picture 28" descr="A person in a suit and tie&#10;&#10;Description automatically generated with medium confidence">
              <a:extLst>
                <a:ext uri="{FF2B5EF4-FFF2-40B4-BE49-F238E27FC236}">
                  <a16:creationId xmlns:a16="http://schemas.microsoft.com/office/drawing/2014/main" id="{884FBB1B-7DBD-7989-D4BF-2EB4C33F73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900" y="850795"/>
              <a:ext cx="3562340" cy="252244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068F9B-7023-597D-C931-DCB03E8FB783}"/>
                </a:ext>
              </a:extLst>
            </p:cNvPr>
            <p:cNvSpPr txBox="1">
              <a:spLocks/>
            </p:cNvSpPr>
            <p:nvPr/>
          </p:nvSpPr>
          <p:spPr>
            <a:xfrm>
              <a:off x="832351" y="874693"/>
              <a:ext cx="9321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6600" b="1" dirty="0">
                  <a:solidFill>
                    <a:srgbClr val="0066FF"/>
                  </a:solidFill>
                </a:rPr>
                <a:t>A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14C219-5540-A7C3-0F49-29759B04B5C8}"/>
              </a:ext>
            </a:extLst>
          </p:cNvPr>
          <p:cNvGrpSpPr/>
          <p:nvPr/>
        </p:nvGrpSpPr>
        <p:grpSpPr>
          <a:xfrm>
            <a:off x="3678981" y="1125650"/>
            <a:ext cx="2740662" cy="2966014"/>
            <a:chOff x="3678981" y="1125650"/>
            <a:chExt cx="2740662" cy="2966014"/>
          </a:xfrm>
        </p:grpSpPr>
        <p:pic>
          <p:nvPicPr>
            <p:cNvPr id="35" name="Picture 34" descr="A person in a suit and tie&#10;&#10;Description automatically generated with low confidence">
              <a:extLst>
                <a:ext uri="{FF2B5EF4-FFF2-40B4-BE49-F238E27FC236}">
                  <a16:creationId xmlns:a16="http://schemas.microsoft.com/office/drawing/2014/main" id="{BD2E36F9-918C-3C65-B2A2-656886E3C3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5215" y="1125650"/>
              <a:ext cx="2544428" cy="264527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69893E-1A81-C71F-4F83-654BED4D5FB8}"/>
                </a:ext>
              </a:extLst>
            </p:cNvPr>
            <p:cNvSpPr txBox="1">
              <a:spLocks/>
            </p:cNvSpPr>
            <p:nvPr/>
          </p:nvSpPr>
          <p:spPr>
            <a:xfrm>
              <a:off x="3678981" y="2983668"/>
              <a:ext cx="9321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6600" b="1" dirty="0">
                  <a:solidFill>
                    <a:srgbClr val="0066FF"/>
                  </a:solidFill>
                </a:rPr>
                <a:t>B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DCBFE7-B783-F4BC-97EC-2D75BD317EEE}"/>
              </a:ext>
            </a:extLst>
          </p:cNvPr>
          <p:cNvGrpSpPr/>
          <p:nvPr/>
        </p:nvGrpSpPr>
        <p:grpSpPr>
          <a:xfrm>
            <a:off x="6569000" y="-74337"/>
            <a:ext cx="2449256" cy="2433582"/>
            <a:chOff x="6569000" y="-74337"/>
            <a:chExt cx="2449256" cy="2433582"/>
          </a:xfrm>
        </p:grpSpPr>
        <p:pic>
          <p:nvPicPr>
            <p:cNvPr id="31" name="Picture 30" descr="A person in a suit and tie&#10;&#10;Description automatically generated with low confidence">
              <a:extLst>
                <a:ext uri="{FF2B5EF4-FFF2-40B4-BE49-F238E27FC236}">
                  <a16:creationId xmlns:a16="http://schemas.microsoft.com/office/drawing/2014/main" id="{EE75308B-0646-FD77-DDC8-1F9CA42F9F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9000" y="89877"/>
              <a:ext cx="2449256" cy="2269368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FD51D39-B2C1-16D5-F0AA-D0DB6228FDEF}"/>
                </a:ext>
              </a:extLst>
            </p:cNvPr>
            <p:cNvSpPr txBox="1"/>
            <p:nvPr/>
          </p:nvSpPr>
          <p:spPr>
            <a:xfrm>
              <a:off x="6849186" y="-74337"/>
              <a:ext cx="9321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6600" b="1" dirty="0">
                  <a:solidFill>
                    <a:srgbClr val="0066FF"/>
                  </a:solidFill>
                </a:rPr>
                <a:t>C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1FA653-0C8B-5ED8-8E22-6B30896E945E}"/>
              </a:ext>
            </a:extLst>
          </p:cNvPr>
          <p:cNvGrpSpPr/>
          <p:nvPr/>
        </p:nvGrpSpPr>
        <p:grpSpPr>
          <a:xfrm>
            <a:off x="-13243" y="3845261"/>
            <a:ext cx="2623345" cy="2773230"/>
            <a:chOff x="-13243" y="3845261"/>
            <a:chExt cx="2623345" cy="2773230"/>
          </a:xfrm>
        </p:grpSpPr>
        <p:pic>
          <p:nvPicPr>
            <p:cNvPr id="25" name="Picture 24" descr="A person in a suit sitting in a chair&#10;&#10;Description automatically generated with low confidence">
              <a:extLst>
                <a:ext uri="{FF2B5EF4-FFF2-40B4-BE49-F238E27FC236}">
                  <a16:creationId xmlns:a16="http://schemas.microsoft.com/office/drawing/2014/main" id="{B1EF6859-4BDD-BFDA-81ED-937EA5504D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3243" y="4096044"/>
              <a:ext cx="2623345" cy="2522447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328CDBC-234D-9F32-1C95-1A1775710A6C}"/>
                </a:ext>
              </a:extLst>
            </p:cNvPr>
            <p:cNvSpPr txBox="1">
              <a:spLocks/>
            </p:cNvSpPr>
            <p:nvPr/>
          </p:nvSpPr>
          <p:spPr>
            <a:xfrm>
              <a:off x="213266" y="3845261"/>
              <a:ext cx="9321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6600" b="1" dirty="0">
                  <a:solidFill>
                    <a:srgbClr val="0066FF"/>
                  </a:solidFill>
                </a:rPr>
                <a:t>D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77745F4-805B-ED5B-26F2-416F97ED6A1C}"/>
              </a:ext>
            </a:extLst>
          </p:cNvPr>
          <p:cNvGrpSpPr/>
          <p:nvPr/>
        </p:nvGrpSpPr>
        <p:grpSpPr>
          <a:xfrm>
            <a:off x="2826670" y="4148961"/>
            <a:ext cx="3311443" cy="2498409"/>
            <a:chOff x="2826670" y="4148961"/>
            <a:chExt cx="3311443" cy="2498409"/>
          </a:xfrm>
        </p:grpSpPr>
        <p:pic>
          <p:nvPicPr>
            <p:cNvPr id="27" name="Picture 26" descr="A person in a suit holding a stethoscope&#10;&#10;Description automatically generated with low confidence">
              <a:extLst>
                <a:ext uri="{FF2B5EF4-FFF2-40B4-BE49-F238E27FC236}">
                  <a16:creationId xmlns:a16="http://schemas.microsoft.com/office/drawing/2014/main" id="{C3217F72-E7D0-EE53-38B5-3E4D4EAFE3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6670" y="4240374"/>
              <a:ext cx="3311443" cy="2406996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48CFCE-44CB-442C-17C5-C5F9707407E7}"/>
                </a:ext>
              </a:extLst>
            </p:cNvPr>
            <p:cNvSpPr txBox="1">
              <a:spLocks/>
            </p:cNvSpPr>
            <p:nvPr/>
          </p:nvSpPr>
          <p:spPr>
            <a:xfrm>
              <a:off x="4848165" y="4148961"/>
              <a:ext cx="9321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6600" b="1" dirty="0">
                  <a:solidFill>
                    <a:srgbClr val="0066FF"/>
                  </a:solidFill>
                </a:rPr>
                <a:t>E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4CFEBFA-0329-8BD9-14B8-8D62227FCE85}"/>
              </a:ext>
            </a:extLst>
          </p:cNvPr>
          <p:cNvGrpSpPr/>
          <p:nvPr/>
        </p:nvGrpSpPr>
        <p:grpSpPr>
          <a:xfrm>
            <a:off x="5921799" y="3793476"/>
            <a:ext cx="3005633" cy="2974647"/>
            <a:chOff x="5921799" y="3793476"/>
            <a:chExt cx="3005633" cy="2974647"/>
          </a:xfrm>
        </p:grpSpPr>
        <p:pic>
          <p:nvPicPr>
            <p:cNvPr id="33" name="Picture 32" descr="A person in a suit and tie&#10;&#10;Description automatically generated with low confidence">
              <a:extLst>
                <a:ext uri="{FF2B5EF4-FFF2-40B4-BE49-F238E27FC236}">
                  <a16:creationId xmlns:a16="http://schemas.microsoft.com/office/drawing/2014/main" id="{980CE457-98EA-0F9F-148F-FC28E9EDC4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1799" y="3793476"/>
              <a:ext cx="3005633" cy="2974647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DEB5FDA-B0B4-2BE1-42F6-4CEEA27AEDC2}"/>
                </a:ext>
              </a:extLst>
            </p:cNvPr>
            <p:cNvSpPr txBox="1">
              <a:spLocks/>
            </p:cNvSpPr>
            <p:nvPr/>
          </p:nvSpPr>
          <p:spPr>
            <a:xfrm>
              <a:off x="6958740" y="3793476"/>
              <a:ext cx="9321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6600" b="1" dirty="0">
                  <a:solidFill>
                    <a:srgbClr val="0066FF"/>
                  </a:solidFill>
                </a:rPr>
                <a:t>F</a:t>
              </a: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32F607D8-6A47-185D-7076-54FCFB96C407}"/>
              </a:ext>
            </a:extLst>
          </p:cNvPr>
          <p:cNvSpPr/>
          <p:nvPr/>
        </p:nvSpPr>
        <p:spPr>
          <a:xfrm>
            <a:off x="6756884" y="2622113"/>
            <a:ext cx="2048914" cy="107581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678C1A-9E3F-C4B2-BFFE-97C39839DC56}"/>
              </a:ext>
            </a:extLst>
          </p:cNvPr>
          <p:cNvSpPr txBox="1"/>
          <p:nvPr/>
        </p:nvSpPr>
        <p:spPr>
          <a:xfrm>
            <a:off x="7433027" y="2521822"/>
            <a:ext cx="11629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8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756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AD0E-A82D-CC2C-13C0-831DA480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63516-287F-3117-D460-83B1BBCB2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BD936-EAA5-53C1-EA07-77DCF7BF35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39431B-0AE2-4743-FAEA-78256E29E781}"/>
              </a:ext>
            </a:extLst>
          </p:cNvPr>
          <p:cNvSpPr txBox="1">
            <a:spLocks/>
          </p:cNvSpPr>
          <p:nvPr/>
        </p:nvSpPr>
        <p:spPr>
          <a:xfrm>
            <a:off x="175315" y="89877"/>
            <a:ext cx="7399801" cy="64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Your own feeling:</a:t>
            </a:r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CDECC774-58BC-199F-6B98-ADE3100B8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054" y="89877"/>
            <a:ext cx="5485458" cy="6399700"/>
          </a:xfrm>
          <a:prstGeom prst="rect">
            <a:avLst/>
          </a:prstGeom>
        </p:spPr>
      </p:pic>
      <p:pic>
        <p:nvPicPr>
          <p:cNvPr id="24" name="Graphic 23" descr="Zombie outline">
            <a:extLst>
              <a:ext uri="{FF2B5EF4-FFF2-40B4-BE49-F238E27FC236}">
                <a16:creationId xmlns:a16="http://schemas.microsoft.com/office/drawing/2014/main" id="{180D77B7-E116-EA4B-A2E4-7E76959EB0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117916" y="2056417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3264583D-1597-A837-27BC-E6EA53047386}"/>
              </a:ext>
            </a:extLst>
          </p:cNvPr>
          <p:cNvGrpSpPr/>
          <p:nvPr/>
        </p:nvGrpSpPr>
        <p:grpSpPr>
          <a:xfrm>
            <a:off x="175315" y="830574"/>
            <a:ext cx="4200552" cy="5781697"/>
            <a:chOff x="175315" y="830574"/>
            <a:chExt cx="4200552" cy="5781697"/>
          </a:xfrm>
        </p:grpSpPr>
        <p:pic>
          <p:nvPicPr>
            <p:cNvPr id="14" name="Graphic 13" descr="Signal with solid fill">
              <a:extLst>
                <a:ext uri="{FF2B5EF4-FFF2-40B4-BE49-F238E27FC236}">
                  <a16:creationId xmlns:a16="http://schemas.microsoft.com/office/drawing/2014/main" id="{D08C5ABC-D1B9-0517-BFFF-ADDEF3A76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175315" y="830574"/>
              <a:ext cx="2297959" cy="2297959"/>
            </a:xfrm>
            <a:prstGeom prst="rect">
              <a:avLst/>
            </a:prstGeom>
          </p:spPr>
        </p:pic>
        <p:pic>
          <p:nvPicPr>
            <p:cNvPr id="16" name="Graphic 15" descr="Thumbs Down outline">
              <a:extLst>
                <a:ext uri="{FF2B5EF4-FFF2-40B4-BE49-F238E27FC236}">
                  <a16:creationId xmlns:a16="http://schemas.microsoft.com/office/drawing/2014/main" id="{C0247BC3-6363-D696-2783-85F26C34F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1209892" y="5118488"/>
              <a:ext cx="1273539" cy="1273539"/>
            </a:xfrm>
            <a:prstGeom prst="rect">
              <a:avLst/>
            </a:prstGeom>
          </p:spPr>
        </p:pic>
        <p:pic>
          <p:nvPicPr>
            <p:cNvPr id="18" name="Graphic 17" descr="Thumbs up sign outline">
              <a:extLst>
                <a:ext uri="{FF2B5EF4-FFF2-40B4-BE49-F238E27FC236}">
                  <a16:creationId xmlns:a16="http://schemas.microsoft.com/office/drawing/2014/main" id="{AF54274A-2DE4-BFE9-024F-4E9D4ECC2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506332" y="2976250"/>
              <a:ext cx="2113360" cy="2113360"/>
            </a:xfrm>
            <a:prstGeom prst="rect">
              <a:avLst/>
            </a:prstGeom>
          </p:spPr>
        </p:pic>
        <p:pic>
          <p:nvPicPr>
            <p:cNvPr id="20" name="Graphic 19" descr="Cooked turkey with solid fill">
              <a:extLst>
                <a:ext uri="{FF2B5EF4-FFF2-40B4-BE49-F238E27FC236}">
                  <a16:creationId xmlns:a16="http://schemas.microsoft.com/office/drawing/2014/main" id="{7D33FF3D-54A8-4D2B-106D-199C7F794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783881" y="1006885"/>
              <a:ext cx="1129320" cy="1129320"/>
            </a:xfrm>
            <a:prstGeom prst="rect">
              <a:avLst/>
            </a:prstGeom>
          </p:spPr>
        </p:pic>
        <p:pic>
          <p:nvPicPr>
            <p:cNvPr id="22" name="Graphic 21" descr="Cooked turkey outline">
              <a:extLst>
                <a:ext uri="{FF2B5EF4-FFF2-40B4-BE49-F238E27FC236}">
                  <a16:creationId xmlns:a16="http://schemas.microsoft.com/office/drawing/2014/main" id="{5326FF9F-C624-4230-F2E2-71C463177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498883" y="2147183"/>
              <a:ext cx="914400" cy="914400"/>
            </a:xfrm>
            <a:prstGeom prst="rect">
              <a:avLst/>
            </a:prstGeom>
          </p:spPr>
        </p:pic>
        <p:pic>
          <p:nvPicPr>
            <p:cNvPr id="25" name="Graphic 24" descr="Thumbs Down outline">
              <a:extLst>
                <a:ext uri="{FF2B5EF4-FFF2-40B4-BE49-F238E27FC236}">
                  <a16:creationId xmlns:a16="http://schemas.microsoft.com/office/drawing/2014/main" id="{005DFBAF-9F23-9C4F-DD75-C4A6CD462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438344" y="4641821"/>
              <a:ext cx="680543" cy="680543"/>
            </a:xfrm>
            <a:prstGeom prst="rect">
              <a:avLst/>
            </a:prstGeom>
          </p:spPr>
        </p:pic>
        <p:pic>
          <p:nvPicPr>
            <p:cNvPr id="26" name="Graphic 25" descr="Thumbs up sign outline">
              <a:extLst>
                <a:ext uri="{FF2B5EF4-FFF2-40B4-BE49-F238E27FC236}">
                  <a16:creationId xmlns:a16="http://schemas.microsoft.com/office/drawing/2014/main" id="{88396E3B-9FDB-13F6-441B-5175D2F9B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513532" y="3494782"/>
              <a:ext cx="1129320" cy="1129320"/>
            </a:xfrm>
            <a:prstGeom prst="rect">
              <a:avLst/>
            </a:prstGeom>
          </p:spPr>
        </p:pic>
        <p:pic>
          <p:nvPicPr>
            <p:cNvPr id="27" name="Graphic 26" descr="Thumbs Down outline">
              <a:extLst>
                <a:ext uri="{FF2B5EF4-FFF2-40B4-BE49-F238E27FC236}">
                  <a16:creationId xmlns:a16="http://schemas.microsoft.com/office/drawing/2014/main" id="{70C94296-087C-A86F-7C12-47039260C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432918" y="4873344"/>
              <a:ext cx="776974" cy="776974"/>
            </a:xfrm>
            <a:prstGeom prst="rect">
              <a:avLst/>
            </a:prstGeom>
          </p:spPr>
        </p:pic>
        <p:pic>
          <p:nvPicPr>
            <p:cNvPr id="28" name="Graphic 27" descr="Thumbs up sign outline">
              <a:extLst>
                <a:ext uri="{FF2B5EF4-FFF2-40B4-BE49-F238E27FC236}">
                  <a16:creationId xmlns:a16="http://schemas.microsoft.com/office/drawing/2014/main" id="{07FD8250-6ADC-34E2-8271-58CD890BE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262507" y="4498911"/>
              <a:ext cx="2113360" cy="2113360"/>
            </a:xfrm>
            <a:prstGeom prst="rect">
              <a:avLst/>
            </a:prstGeom>
          </p:spPr>
        </p:pic>
        <p:pic>
          <p:nvPicPr>
            <p:cNvPr id="29" name="Graphic 28" descr="Thumbs up sign outline">
              <a:extLst>
                <a:ext uri="{FF2B5EF4-FFF2-40B4-BE49-F238E27FC236}">
                  <a16:creationId xmlns:a16="http://schemas.microsoft.com/office/drawing/2014/main" id="{AE53FBE5-0E50-BB15-D908-6B2CCC7FA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531941" y="2970817"/>
              <a:ext cx="776975" cy="776975"/>
            </a:xfrm>
            <a:prstGeom prst="rect">
              <a:avLst/>
            </a:prstGeom>
          </p:spPr>
        </p:pic>
        <p:pic>
          <p:nvPicPr>
            <p:cNvPr id="30" name="Graphic 29" descr="Thumbs up sign outline">
              <a:extLst>
                <a:ext uri="{FF2B5EF4-FFF2-40B4-BE49-F238E27FC236}">
                  <a16:creationId xmlns:a16="http://schemas.microsoft.com/office/drawing/2014/main" id="{8F58D185-E636-1BE9-1090-C20597309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84131" y="5566894"/>
              <a:ext cx="776975" cy="776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434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AD0E-A82D-CC2C-13C0-831DA480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63516-287F-3117-D460-83B1BBCB2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BD936-EAA5-53C1-EA07-77DCF7BF35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39431B-0AE2-4743-FAEA-78256E29E781}"/>
              </a:ext>
            </a:extLst>
          </p:cNvPr>
          <p:cNvSpPr txBox="1">
            <a:spLocks/>
          </p:cNvSpPr>
          <p:nvPr/>
        </p:nvSpPr>
        <p:spPr>
          <a:xfrm>
            <a:off x="175315" y="89877"/>
            <a:ext cx="7399801" cy="64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Your own feeling:</a:t>
            </a:r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525A4B11-FA9F-3F68-999B-D280C39DC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905" y="40204"/>
            <a:ext cx="4664330" cy="6875344"/>
          </a:xfrm>
          <a:prstGeom prst="rect">
            <a:avLst/>
          </a:prstGeom>
        </p:spPr>
      </p:pic>
      <p:pic>
        <p:nvPicPr>
          <p:cNvPr id="14" name="Graphic 13" descr="Zombie outline">
            <a:extLst>
              <a:ext uri="{FF2B5EF4-FFF2-40B4-BE49-F238E27FC236}">
                <a16:creationId xmlns:a16="http://schemas.microsoft.com/office/drawing/2014/main" id="{6F1B3AAF-3433-A320-F1C6-6E3ED750B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056274" y="1403863"/>
            <a:ext cx="914400" cy="9144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6B2FA99-5ECF-4EC4-3706-F716C7463188}"/>
              </a:ext>
            </a:extLst>
          </p:cNvPr>
          <p:cNvGrpSpPr/>
          <p:nvPr/>
        </p:nvGrpSpPr>
        <p:grpSpPr>
          <a:xfrm>
            <a:off x="175315" y="830574"/>
            <a:ext cx="4200552" cy="5781697"/>
            <a:chOff x="175315" y="830574"/>
            <a:chExt cx="4200552" cy="5781697"/>
          </a:xfrm>
        </p:grpSpPr>
        <p:pic>
          <p:nvPicPr>
            <p:cNvPr id="5" name="Graphic 4" descr="Signal with solid fill">
              <a:extLst>
                <a:ext uri="{FF2B5EF4-FFF2-40B4-BE49-F238E27FC236}">
                  <a16:creationId xmlns:a16="http://schemas.microsoft.com/office/drawing/2014/main" id="{7E0F7C81-79CA-8ACB-FCDF-252B4AEDA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175315" y="830574"/>
              <a:ext cx="2297959" cy="2297959"/>
            </a:xfrm>
            <a:prstGeom prst="rect">
              <a:avLst/>
            </a:prstGeom>
          </p:spPr>
        </p:pic>
        <p:pic>
          <p:nvPicPr>
            <p:cNvPr id="11" name="Graphic 10" descr="Cooked turkey with solid fill">
              <a:extLst>
                <a:ext uri="{FF2B5EF4-FFF2-40B4-BE49-F238E27FC236}">
                  <a16:creationId xmlns:a16="http://schemas.microsoft.com/office/drawing/2014/main" id="{7735816A-3DA9-DB2A-2EC2-8695CDC98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3127947" y="1129749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Cooked turkey outline">
              <a:extLst>
                <a:ext uri="{FF2B5EF4-FFF2-40B4-BE49-F238E27FC236}">
                  <a16:creationId xmlns:a16="http://schemas.microsoft.com/office/drawing/2014/main" id="{A746AE87-2749-79ED-3B1C-DCE37D4E6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682094" y="2049650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Thumbs Down outline">
              <a:extLst>
                <a:ext uri="{FF2B5EF4-FFF2-40B4-BE49-F238E27FC236}">
                  <a16:creationId xmlns:a16="http://schemas.microsoft.com/office/drawing/2014/main" id="{72C19A95-7FAD-948D-C905-85D69F2EA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1209892" y="5118488"/>
              <a:ext cx="1273539" cy="1273539"/>
            </a:xfrm>
            <a:prstGeom prst="rect">
              <a:avLst/>
            </a:prstGeom>
          </p:spPr>
        </p:pic>
        <p:pic>
          <p:nvPicPr>
            <p:cNvPr id="16" name="Graphic 15" descr="Thumbs up sign outline">
              <a:extLst>
                <a:ext uri="{FF2B5EF4-FFF2-40B4-BE49-F238E27FC236}">
                  <a16:creationId xmlns:a16="http://schemas.microsoft.com/office/drawing/2014/main" id="{45AAA22B-8D1D-059F-10C3-5B9DB4561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506332" y="2976250"/>
              <a:ext cx="2113360" cy="2113360"/>
            </a:xfrm>
            <a:prstGeom prst="rect">
              <a:avLst/>
            </a:prstGeom>
          </p:spPr>
        </p:pic>
        <p:pic>
          <p:nvPicPr>
            <p:cNvPr id="17" name="Graphic 16" descr="Thumbs Down outline">
              <a:extLst>
                <a:ext uri="{FF2B5EF4-FFF2-40B4-BE49-F238E27FC236}">
                  <a16:creationId xmlns:a16="http://schemas.microsoft.com/office/drawing/2014/main" id="{684D54EC-6C2E-103F-1D92-45F71734C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438344" y="4641821"/>
              <a:ext cx="680543" cy="680543"/>
            </a:xfrm>
            <a:prstGeom prst="rect">
              <a:avLst/>
            </a:prstGeom>
          </p:spPr>
        </p:pic>
        <p:pic>
          <p:nvPicPr>
            <p:cNvPr id="18" name="Graphic 17" descr="Thumbs up sign outline">
              <a:extLst>
                <a:ext uri="{FF2B5EF4-FFF2-40B4-BE49-F238E27FC236}">
                  <a16:creationId xmlns:a16="http://schemas.microsoft.com/office/drawing/2014/main" id="{2422FB12-8269-0145-C949-18828F8F4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513532" y="3494782"/>
              <a:ext cx="1129320" cy="1129320"/>
            </a:xfrm>
            <a:prstGeom prst="rect">
              <a:avLst/>
            </a:prstGeom>
          </p:spPr>
        </p:pic>
        <p:pic>
          <p:nvPicPr>
            <p:cNvPr id="19" name="Graphic 18" descr="Thumbs Down outline">
              <a:extLst>
                <a:ext uri="{FF2B5EF4-FFF2-40B4-BE49-F238E27FC236}">
                  <a16:creationId xmlns:a16="http://schemas.microsoft.com/office/drawing/2014/main" id="{00316F1E-235D-8E88-CDF0-C0A0BF5FE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432918" y="4873344"/>
              <a:ext cx="776974" cy="776974"/>
            </a:xfrm>
            <a:prstGeom prst="rect">
              <a:avLst/>
            </a:prstGeom>
          </p:spPr>
        </p:pic>
        <p:pic>
          <p:nvPicPr>
            <p:cNvPr id="20" name="Graphic 19" descr="Thumbs up sign outline">
              <a:extLst>
                <a:ext uri="{FF2B5EF4-FFF2-40B4-BE49-F238E27FC236}">
                  <a16:creationId xmlns:a16="http://schemas.microsoft.com/office/drawing/2014/main" id="{C617BFAB-4CD0-96CE-DF2F-056357651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262507" y="4498911"/>
              <a:ext cx="2113360" cy="2113360"/>
            </a:xfrm>
            <a:prstGeom prst="rect">
              <a:avLst/>
            </a:prstGeom>
          </p:spPr>
        </p:pic>
        <p:pic>
          <p:nvPicPr>
            <p:cNvPr id="21" name="Graphic 20" descr="Thumbs up sign outline">
              <a:extLst>
                <a:ext uri="{FF2B5EF4-FFF2-40B4-BE49-F238E27FC236}">
                  <a16:creationId xmlns:a16="http://schemas.microsoft.com/office/drawing/2014/main" id="{F35AA2E3-3B5D-34A3-C5BD-F8452E3FC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531941" y="2970817"/>
              <a:ext cx="776975" cy="776975"/>
            </a:xfrm>
            <a:prstGeom prst="rect">
              <a:avLst/>
            </a:prstGeom>
          </p:spPr>
        </p:pic>
        <p:pic>
          <p:nvPicPr>
            <p:cNvPr id="22" name="Graphic 21" descr="Thumbs up sign outline">
              <a:extLst>
                <a:ext uri="{FF2B5EF4-FFF2-40B4-BE49-F238E27FC236}">
                  <a16:creationId xmlns:a16="http://schemas.microsoft.com/office/drawing/2014/main" id="{882F7860-54B7-27F5-0640-40C524D5F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84131" y="5566894"/>
              <a:ext cx="776975" cy="776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300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AD0E-A82D-CC2C-13C0-831DA480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63516-287F-3117-D460-83B1BBCB2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BD936-EAA5-53C1-EA07-77DCF7BF35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39431B-0AE2-4743-FAEA-78256E29E781}"/>
              </a:ext>
            </a:extLst>
          </p:cNvPr>
          <p:cNvSpPr txBox="1">
            <a:spLocks/>
          </p:cNvSpPr>
          <p:nvPr/>
        </p:nvSpPr>
        <p:spPr>
          <a:xfrm>
            <a:off x="175315" y="89877"/>
            <a:ext cx="7399801" cy="64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Your own feeling:</a:t>
            </a:r>
          </a:p>
        </p:txBody>
      </p:sp>
      <p:pic>
        <p:nvPicPr>
          <p:cNvPr id="12" name="Picture 11" descr="Table&#10;&#10;Description automatically generated">
            <a:extLst>
              <a:ext uri="{FF2B5EF4-FFF2-40B4-BE49-F238E27FC236}">
                <a16:creationId xmlns:a16="http://schemas.microsoft.com/office/drawing/2014/main" id="{15E005E1-EF2C-2A47-E5CC-79A9E77A4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215" y="-18407"/>
            <a:ext cx="4761292" cy="6894812"/>
          </a:xfrm>
          <a:prstGeom prst="rect">
            <a:avLst/>
          </a:prstGeom>
        </p:spPr>
      </p:pic>
      <p:pic>
        <p:nvPicPr>
          <p:cNvPr id="14" name="Graphic 13" descr="Zombie outline">
            <a:extLst>
              <a:ext uri="{FF2B5EF4-FFF2-40B4-BE49-F238E27FC236}">
                <a16:creationId xmlns:a16="http://schemas.microsoft.com/office/drawing/2014/main" id="{301AECB2-8599-F254-E2DE-DD41D1C33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204188" y="1454428"/>
            <a:ext cx="914400" cy="9144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3CB5721-5A33-D83D-6EDA-A32374DE34A5}"/>
              </a:ext>
            </a:extLst>
          </p:cNvPr>
          <p:cNvGrpSpPr/>
          <p:nvPr/>
        </p:nvGrpSpPr>
        <p:grpSpPr>
          <a:xfrm>
            <a:off x="284131" y="762649"/>
            <a:ext cx="4091736" cy="5849622"/>
            <a:chOff x="284131" y="762649"/>
            <a:chExt cx="4091736" cy="5849622"/>
          </a:xfrm>
        </p:grpSpPr>
        <p:pic>
          <p:nvPicPr>
            <p:cNvPr id="5" name="Graphic 4" descr="Signal with solid fill">
              <a:extLst>
                <a:ext uri="{FF2B5EF4-FFF2-40B4-BE49-F238E27FC236}">
                  <a16:creationId xmlns:a16="http://schemas.microsoft.com/office/drawing/2014/main" id="{E6C9780F-571F-E653-B9B0-FBC13C349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506332" y="762649"/>
              <a:ext cx="2297959" cy="2297959"/>
            </a:xfrm>
            <a:prstGeom prst="rect">
              <a:avLst/>
            </a:prstGeom>
          </p:spPr>
        </p:pic>
        <p:pic>
          <p:nvPicPr>
            <p:cNvPr id="11" name="Graphic 10" descr="Cooked turkey with solid fill">
              <a:extLst>
                <a:ext uri="{FF2B5EF4-FFF2-40B4-BE49-F238E27FC236}">
                  <a16:creationId xmlns:a16="http://schemas.microsoft.com/office/drawing/2014/main" id="{6987054E-0BE9-FE0E-DAD8-7991774B2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3188257" y="1110426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Cooked turkey outline">
              <a:extLst>
                <a:ext uri="{FF2B5EF4-FFF2-40B4-BE49-F238E27FC236}">
                  <a16:creationId xmlns:a16="http://schemas.microsoft.com/office/drawing/2014/main" id="{1849AACD-FADE-73FF-9FF2-4D174B084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926630" y="2287226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Thumbs Down outline">
              <a:extLst>
                <a:ext uri="{FF2B5EF4-FFF2-40B4-BE49-F238E27FC236}">
                  <a16:creationId xmlns:a16="http://schemas.microsoft.com/office/drawing/2014/main" id="{44A88BC0-9CB1-71FB-919C-8BD47439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1209892" y="5118488"/>
              <a:ext cx="1273539" cy="1273539"/>
            </a:xfrm>
            <a:prstGeom prst="rect">
              <a:avLst/>
            </a:prstGeom>
          </p:spPr>
        </p:pic>
        <p:pic>
          <p:nvPicPr>
            <p:cNvPr id="16" name="Graphic 15" descr="Thumbs up sign outline">
              <a:extLst>
                <a:ext uri="{FF2B5EF4-FFF2-40B4-BE49-F238E27FC236}">
                  <a16:creationId xmlns:a16="http://schemas.microsoft.com/office/drawing/2014/main" id="{E3438CF5-3B69-4875-E9F9-58D36392F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506332" y="2976250"/>
              <a:ext cx="2113360" cy="2113360"/>
            </a:xfrm>
            <a:prstGeom prst="rect">
              <a:avLst/>
            </a:prstGeom>
          </p:spPr>
        </p:pic>
        <p:pic>
          <p:nvPicPr>
            <p:cNvPr id="17" name="Graphic 16" descr="Thumbs Down outline">
              <a:extLst>
                <a:ext uri="{FF2B5EF4-FFF2-40B4-BE49-F238E27FC236}">
                  <a16:creationId xmlns:a16="http://schemas.microsoft.com/office/drawing/2014/main" id="{FBAE98C9-634E-C86E-35BB-3EDAA30B6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438344" y="4641821"/>
              <a:ext cx="680543" cy="680543"/>
            </a:xfrm>
            <a:prstGeom prst="rect">
              <a:avLst/>
            </a:prstGeom>
          </p:spPr>
        </p:pic>
        <p:pic>
          <p:nvPicPr>
            <p:cNvPr id="18" name="Graphic 17" descr="Thumbs up sign outline">
              <a:extLst>
                <a:ext uri="{FF2B5EF4-FFF2-40B4-BE49-F238E27FC236}">
                  <a16:creationId xmlns:a16="http://schemas.microsoft.com/office/drawing/2014/main" id="{CD7FBDB0-A12B-25AC-6ED2-04196F377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513532" y="3494782"/>
              <a:ext cx="1129320" cy="1129320"/>
            </a:xfrm>
            <a:prstGeom prst="rect">
              <a:avLst/>
            </a:prstGeom>
          </p:spPr>
        </p:pic>
        <p:pic>
          <p:nvPicPr>
            <p:cNvPr id="19" name="Graphic 18" descr="Thumbs Down outline">
              <a:extLst>
                <a:ext uri="{FF2B5EF4-FFF2-40B4-BE49-F238E27FC236}">
                  <a16:creationId xmlns:a16="http://schemas.microsoft.com/office/drawing/2014/main" id="{5DFA018D-5A84-CAD5-8C89-AD7F1E3BC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432918" y="4873344"/>
              <a:ext cx="776974" cy="776974"/>
            </a:xfrm>
            <a:prstGeom prst="rect">
              <a:avLst/>
            </a:prstGeom>
          </p:spPr>
        </p:pic>
        <p:pic>
          <p:nvPicPr>
            <p:cNvPr id="20" name="Graphic 19" descr="Thumbs up sign outline">
              <a:extLst>
                <a:ext uri="{FF2B5EF4-FFF2-40B4-BE49-F238E27FC236}">
                  <a16:creationId xmlns:a16="http://schemas.microsoft.com/office/drawing/2014/main" id="{E740B10E-29C0-C7D0-103E-1B389CA9E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262507" y="4498911"/>
              <a:ext cx="2113360" cy="2113360"/>
            </a:xfrm>
            <a:prstGeom prst="rect">
              <a:avLst/>
            </a:prstGeom>
          </p:spPr>
        </p:pic>
        <p:pic>
          <p:nvPicPr>
            <p:cNvPr id="21" name="Graphic 20" descr="Thumbs up sign outline">
              <a:extLst>
                <a:ext uri="{FF2B5EF4-FFF2-40B4-BE49-F238E27FC236}">
                  <a16:creationId xmlns:a16="http://schemas.microsoft.com/office/drawing/2014/main" id="{5407ED01-742D-FD24-95B7-2705C16F0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531941" y="2970817"/>
              <a:ext cx="776975" cy="776975"/>
            </a:xfrm>
            <a:prstGeom prst="rect">
              <a:avLst/>
            </a:prstGeom>
          </p:spPr>
        </p:pic>
        <p:pic>
          <p:nvPicPr>
            <p:cNvPr id="22" name="Graphic 21" descr="Thumbs up sign outline">
              <a:extLst>
                <a:ext uri="{FF2B5EF4-FFF2-40B4-BE49-F238E27FC236}">
                  <a16:creationId xmlns:a16="http://schemas.microsoft.com/office/drawing/2014/main" id="{A8C15D61-A7A3-D908-9547-5038FBD58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284131" y="5566894"/>
              <a:ext cx="776975" cy="776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2921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ABD936-EAA5-53C1-EA07-77DCF7BF35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39431B-0AE2-4743-FAEA-78256E29E781}"/>
              </a:ext>
            </a:extLst>
          </p:cNvPr>
          <p:cNvSpPr txBox="1">
            <a:spLocks/>
          </p:cNvSpPr>
          <p:nvPr/>
        </p:nvSpPr>
        <p:spPr>
          <a:xfrm>
            <a:off x="175315" y="89877"/>
            <a:ext cx="8764499" cy="1234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To do a project, different people has different way of doing it, and therefore the final result:</a:t>
            </a:r>
          </a:p>
        </p:txBody>
      </p:sp>
      <p:pic>
        <p:nvPicPr>
          <p:cNvPr id="10" name="Picture 9" descr="A plate of food&#10;&#10;Description automatically generated with medium confidence">
            <a:extLst>
              <a:ext uri="{FF2B5EF4-FFF2-40B4-BE49-F238E27FC236}">
                <a16:creationId xmlns:a16="http://schemas.microsoft.com/office/drawing/2014/main" id="{EF8AD303-7C42-03DE-2C99-8E5764A6051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647" y="1273653"/>
            <a:ext cx="1867466" cy="2787588"/>
          </a:xfrm>
          <a:prstGeom prst="rect">
            <a:avLst/>
          </a:prstGeom>
        </p:spPr>
      </p:pic>
      <p:pic>
        <p:nvPicPr>
          <p:cNvPr id="16" name="Picture 15" descr="A picture containing food, table, indoor, dish&#10;&#10;Description automatically generated">
            <a:extLst>
              <a:ext uri="{FF2B5EF4-FFF2-40B4-BE49-F238E27FC236}">
                <a16:creationId xmlns:a16="http://schemas.microsoft.com/office/drawing/2014/main" id="{3E6B4307-DD55-4A76-AA5B-6E1DE1670D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701" y="4296792"/>
            <a:ext cx="3098533" cy="2325656"/>
          </a:xfrm>
          <a:prstGeom prst="rect">
            <a:avLst/>
          </a:prstGeom>
        </p:spPr>
      </p:pic>
      <p:pic>
        <p:nvPicPr>
          <p:cNvPr id="20" name="Picture 19" descr="A plate of food&#10;&#10;Description automatically generated with medium confidence">
            <a:extLst>
              <a:ext uri="{FF2B5EF4-FFF2-40B4-BE49-F238E27FC236}">
                <a16:creationId xmlns:a16="http://schemas.microsoft.com/office/drawing/2014/main" id="{A9524F95-29C5-116E-A5AB-7EDCF740E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914" y="3434289"/>
            <a:ext cx="1905354" cy="1066998"/>
          </a:xfrm>
          <a:prstGeom prst="rect">
            <a:avLst/>
          </a:prstGeom>
        </p:spPr>
      </p:pic>
      <p:pic>
        <p:nvPicPr>
          <p:cNvPr id="22" name="Picture 21" descr="A plate of food&#10;&#10;Description automatically generated with medium confidence">
            <a:extLst>
              <a:ext uri="{FF2B5EF4-FFF2-40B4-BE49-F238E27FC236}">
                <a16:creationId xmlns:a16="http://schemas.microsoft.com/office/drawing/2014/main" id="{4DF64B2B-D140-4623-0F94-864C32BBDE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66" y="4889852"/>
            <a:ext cx="2466975" cy="1847850"/>
          </a:xfrm>
          <a:prstGeom prst="rect">
            <a:avLst/>
          </a:prstGeom>
        </p:spPr>
      </p:pic>
      <p:pic>
        <p:nvPicPr>
          <p:cNvPr id="24" name="Picture 23" descr="A picture containing food, indoor, kabob, dish&#10;&#10;Description automatically generated">
            <a:extLst>
              <a:ext uri="{FF2B5EF4-FFF2-40B4-BE49-F238E27FC236}">
                <a16:creationId xmlns:a16="http://schemas.microsoft.com/office/drawing/2014/main" id="{493AA159-FDEF-E218-8B5B-9D2FABE1B6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8" y="1348831"/>
            <a:ext cx="2343150" cy="1952625"/>
          </a:xfrm>
          <a:prstGeom prst="rect">
            <a:avLst/>
          </a:prstGeom>
        </p:spPr>
      </p:pic>
      <p:pic>
        <p:nvPicPr>
          <p:cNvPr id="26" name="Picture 25" descr="A picture containing several&#10;&#10;Description automatically generated">
            <a:extLst>
              <a:ext uri="{FF2B5EF4-FFF2-40B4-BE49-F238E27FC236}">
                <a16:creationId xmlns:a16="http://schemas.microsoft.com/office/drawing/2014/main" id="{91148322-33C2-86A1-8A45-41BF0761E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603" y="4942239"/>
            <a:ext cx="2619375" cy="1743075"/>
          </a:xfrm>
          <a:prstGeom prst="rect">
            <a:avLst/>
          </a:prstGeom>
        </p:spPr>
      </p:pic>
      <p:pic>
        <p:nvPicPr>
          <p:cNvPr id="28" name="Picture 27" descr="A picture containing food, bread, dish, flour&#10;&#10;Description automatically generated">
            <a:extLst>
              <a:ext uri="{FF2B5EF4-FFF2-40B4-BE49-F238E27FC236}">
                <a16:creationId xmlns:a16="http://schemas.microsoft.com/office/drawing/2014/main" id="{11AF8697-ED37-A392-1A5C-30F9EDF330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901" y="3418555"/>
            <a:ext cx="2046798" cy="1362051"/>
          </a:xfrm>
          <a:prstGeom prst="rect">
            <a:avLst/>
          </a:prstGeom>
        </p:spPr>
      </p:pic>
      <p:pic>
        <p:nvPicPr>
          <p:cNvPr id="30" name="Picture 29" descr="A plate of food&#10;&#10;Description automatically generated with medium confidence">
            <a:extLst>
              <a:ext uri="{FF2B5EF4-FFF2-40B4-BE49-F238E27FC236}">
                <a16:creationId xmlns:a16="http://schemas.microsoft.com/office/drawing/2014/main" id="{29BF530A-06D5-C401-C969-4ECE51E525C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653" y="1382228"/>
            <a:ext cx="2820316" cy="1831585"/>
          </a:xfrm>
          <a:prstGeom prst="rect">
            <a:avLst/>
          </a:prstGeom>
        </p:spPr>
      </p:pic>
      <p:pic>
        <p:nvPicPr>
          <p:cNvPr id="18" name="Picture 17" descr="A plate of food&#10;&#10;Description automatically generated with low confidence">
            <a:extLst>
              <a:ext uri="{FF2B5EF4-FFF2-40B4-BE49-F238E27FC236}">
                <a16:creationId xmlns:a16="http://schemas.microsoft.com/office/drawing/2014/main" id="{632FA8DA-78BF-6B67-37F9-37A13D263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81" y="3410084"/>
            <a:ext cx="1814964" cy="135947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10602A9-CB2A-B50F-4DD4-9B74003D6FBE}"/>
              </a:ext>
            </a:extLst>
          </p:cNvPr>
          <p:cNvSpPr/>
          <p:nvPr/>
        </p:nvSpPr>
        <p:spPr>
          <a:xfrm>
            <a:off x="5790075" y="1675841"/>
            <a:ext cx="1206386" cy="1362051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FAB600-EAE3-E198-984F-8106EAC26523}"/>
              </a:ext>
            </a:extLst>
          </p:cNvPr>
          <p:cNvSpPr txBox="1"/>
          <p:nvPr/>
        </p:nvSpPr>
        <p:spPr>
          <a:xfrm>
            <a:off x="6041181" y="1695148"/>
            <a:ext cx="11629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8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9589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26B5-5825-2E1B-4176-44941A44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49E15-507E-98AB-BE0E-BE61B4AEB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D571C-3F0B-08E7-37E8-FA6FB7F50E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9EF723-4AF5-E09B-5DA4-E6FDE36799EC}"/>
              </a:ext>
            </a:extLst>
          </p:cNvPr>
          <p:cNvSpPr txBox="1">
            <a:spLocks/>
          </p:cNvSpPr>
          <p:nvPr/>
        </p:nvSpPr>
        <p:spPr>
          <a:xfrm>
            <a:off x="175315" y="89877"/>
            <a:ext cx="8764499" cy="64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It is going to be a main course or dessert?</a:t>
            </a:r>
          </a:p>
        </p:txBody>
      </p:sp>
      <p:pic>
        <p:nvPicPr>
          <p:cNvPr id="7" name="Picture 6" descr="A picture containing text, wooden, food, dish&#10;&#10;Description automatically generated">
            <a:extLst>
              <a:ext uri="{FF2B5EF4-FFF2-40B4-BE49-F238E27FC236}">
                <a16:creationId xmlns:a16="http://schemas.microsoft.com/office/drawing/2014/main" id="{EE3935B6-2753-343E-5218-0712E7ADA5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907" y="725797"/>
            <a:ext cx="3048000" cy="3048000"/>
          </a:xfrm>
          <a:prstGeom prst="rect">
            <a:avLst/>
          </a:prstGeom>
        </p:spPr>
      </p:pic>
      <p:pic>
        <p:nvPicPr>
          <p:cNvPr id="9" name="Picture 8" descr="A table with plates of food&#10;&#10;Description automatically generated with low confidence">
            <a:extLst>
              <a:ext uri="{FF2B5EF4-FFF2-40B4-BE49-F238E27FC236}">
                <a16:creationId xmlns:a16="http://schemas.microsoft.com/office/drawing/2014/main" id="{09197932-6141-4F5C-4D01-7B66DD52D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85" y="3627641"/>
            <a:ext cx="5805716" cy="3048001"/>
          </a:xfrm>
          <a:prstGeom prst="rect">
            <a:avLst/>
          </a:prstGeom>
        </p:spPr>
      </p:pic>
      <p:pic>
        <p:nvPicPr>
          <p:cNvPr id="21" name="Picture 20" descr="A picture containing plate, cake, table, food&#10;&#10;Description automatically generated">
            <a:extLst>
              <a:ext uri="{FF2B5EF4-FFF2-40B4-BE49-F238E27FC236}">
                <a16:creationId xmlns:a16="http://schemas.microsoft.com/office/drawing/2014/main" id="{6606DE3A-7C15-952A-9660-C70712B6BA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181" y="4403220"/>
            <a:ext cx="1429416" cy="21480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EB18E4-270B-33C8-0AD7-283FBD3488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84" y="748202"/>
            <a:ext cx="4048218" cy="269390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BCE9B9F-26D0-E33F-1F3C-0FB5A02859D0}"/>
              </a:ext>
            </a:extLst>
          </p:cNvPr>
          <p:cNvSpPr/>
          <p:nvPr/>
        </p:nvSpPr>
        <p:spPr>
          <a:xfrm>
            <a:off x="6192711" y="3953846"/>
            <a:ext cx="1206386" cy="1362051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9B3855-2895-A27F-E326-C87AD8390F8D}"/>
              </a:ext>
            </a:extLst>
          </p:cNvPr>
          <p:cNvSpPr txBox="1"/>
          <p:nvPr/>
        </p:nvSpPr>
        <p:spPr>
          <a:xfrm>
            <a:off x="6445976" y="4005873"/>
            <a:ext cx="11629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8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459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26B5-5825-2E1B-4176-44941A44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49E15-507E-98AB-BE0E-BE61B4AEB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D571C-3F0B-08E7-37E8-FA6FB7F50E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9EF723-4AF5-E09B-5DA4-E6FDE36799EC}"/>
              </a:ext>
            </a:extLst>
          </p:cNvPr>
          <p:cNvSpPr txBox="1">
            <a:spLocks/>
          </p:cNvSpPr>
          <p:nvPr/>
        </p:nvSpPr>
        <p:spPr>
          <a:xfrm>
            <a:off x="175315" y="89877"/>
            <a:ext cx="8764499" cy="64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Time sensitivity? Market Situation? Sustainability?</a:t>
            </a:r>
          </a:p>
        </p:txBody>
      </p:sp>
      <p:pic>
        <p:nvPicPr>
          <p:cNvPr id="11" name="Picture 10" descr="A table full of food&#10;&#10;Description automatically generated with low confidence">
            <a:extLst>
              <a:ext uri="{FF2B5EF4-FFF2-40B4-BE49-F238E27FC236}">
                <a16:creationId xmlns:a16="http://schemas.microsoft.com/office/drawing/2014/main" id="{22FF6C02-B8AE-8A49-1C61-FFAE97C1971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777" y="3737463"/>
            <a:ext cx="3109783" cy="3109783"/>
          </a:xfrm>
          <a:prstGeom prst="rect">
            <a:avLst/>
          </a:prstGeom>
        </p:spPr>
      </p:pic>
      <p:pic>
        <p:nvPicPr>
          <p:cNvPr id="13" name="Picture 12" descr="A table full of plates of food&#10;&#10;Description automatically generated with medium confidence">
            <a:extLst>
              <a:ext uri="{FF2B5EF4-FFF2-40B4-BE49-F238E27FC236}">
                <a16:creationId xmlns:a16="http://schemas.microsoft.com/office/drawing/2014/main" id="{378D04FD-16D2-0BED-9910-8D9FEC9BC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94" y="733772"/>
            <a:ext cx="2843930" cy="2843930"/>
          </a:xfrm>
          <a:prstGeom prst="rect">
            <a:avLst/>
          </a:prstGeom>
        </p:spPr>
      </p:pic>
      <p:pic>
        <p:nvPicPr>
          <p:cNvPr id="15" name="Picture 14" descr="A picture containing calendar&#10;&#10;Description automatically generated">
            <a:extLst>
              <a:ext uri="{FF2B5EF4-FFF2-40B4-BE49-F238E27FC236}">
                <a16:creationId xmlns:a16="http://schemas.microsoft.com/office/drawing/2014/main" id="{D7515A85-D766-C044-EA69-B838A2562CB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53" y="3737463"/>
            <a:ext cx="2962471" cy="2960775"/>
          </a:xfrm>
          <a:prstGeom prst="rect">
            <a:avLst/>
          </a:prstGeom>
        </p:spPr>
      </p:pic>
      <p:pic>
        <p:nvPicPr>
          <p:cNvPr id="17" name="Picture 16" descr="A table full of food&#10;&#10;Description automatically generated with low confidence">
            <a:extLst>
              <a:ext uri="{FF2B5EF4-FFF2-40B4-BE49-F238E27FC236}">
                <a16:creationId xmlns:a16="http://schemas.microsoft.com/office/drawing/2014/main" id="{02E74BB1-B7DD-B482-1DB5-1DD1E55D250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777" y="750368"/>
            <a:ext cx="2843930" cy="2843930"/>
          </a:xfrm>
          <a:prstGeom prst="rect">
            <a:avLst/>
          </a:prstGeom>
        </p:spPr>
      </p:pic>
      <p:pic>
        <p:nvPicPr>
          <p:cNvPr id="19" name="Picture 18" descr="A picture containing text, plate, food&#10;&#10;Description automatically generated">
            <a:extLst>
              <a:ext uri="{FF2B5EF4-FFF2-40B4-BE49-F238E27FC236}">
                <a16:creationId xmlns:a16="http://schemas.microsoft.com/office/drawing/2014/main" id="{A1F0C74E-58A6-0C87-474B-8FDEA442A32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860" y="750888"/>
            <a:ext cx="2678112" cy="2678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863BC9-0AB9-0711-AECD-B96A5EA101B6}"/>
              </a:ext>
            </a:extLst>
          </p:cNvPr>
          <p:cNvSpPr/>
          <p:nvPr/>
        </p:nvSpPr>
        <p:spPr>
          <a:xfrm>
            <a:off x="7055723" y="3930303"/>
            <a:ext cx="1206386" cy="1362051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47764-CE9A-D7CA-F5D3-6FECDEB1B813}"/>
              </a:ext>
            </a:extLst>
          </p:cNvPr>
          <p:cNvSpPr txBox="1"/>
          <p:nvPr/>
        </p:nvSpPr>
        <p:spPr>
          <a:xfrm>
            <a:off x="7378132" y="3949608"/>
            <a:ext cx="11629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8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0087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3D6D83-79B8-6B66-5424-BEB4844C3AC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47" y="0"/>
            <a:ext cx="913790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98F2EC-5515-77F5-55A3-1AD6C070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47EAA-86FF-D84A-C464-325854CF4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546F1-7358-D6BB-5481-98B3017F5B58}"/>
              </a:ext>
            </a:extLst>
          </p:cNvPr>
          <p:cNvSpPr txBox="1">
            <a:spLocks/>
          </p:cNvSpPr>
          <p:nvPr/>
        </p:nvSpPr>
        <p:spPr>
          <a:xfrm>
            <a:off x="175315" y="89877"/>
            <a:ext cx="8764499" cy="11280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Project result should be: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Clear, Constructive and Practical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Reliable and Trustful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Important and Stay-focused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Sustainable and Inspiring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r>
              <a:rPr lang="en-HK" altLang="zh-HK" sz="3200" b="1" dirty="0">
                <a:solidFill>
                  <a:srgbClr val="0066FF"/>
                </a:solidFill>
              </a:rPr>
              <a:t>Summarize what you have learned so far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eriod"/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en-HK" altLang="zh-HK" sz="3200" b="1" dirty="0">
              <a:solidFill>
                <a:srgbClr val="0066FF"/>
              </a:solidFill>
            </a:endParaRPr>
          </a:p>
        </p:txBody>
      </p:sp>
      <p:pic>
        <p:nvPicPr>
          <p:cNvPr id="6" name="Picture 5" descr="Celebrate O Fox">
            <a:extLst>
              <a:ext uri="{FF2B5EF4-FFF2-40B4-BE49-F238E27FC236}">
                <a16:creationId xmlns:a16="http://schemas.microsoft.com/office/drawing/2014/main" id="{A6E1BE53-D5A3-7A8A-FAFB-2B204D463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983" y="1123056"/>
            <a:ext cx="4108110" cy="410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0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You need to make sure…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Your groupmates become your life-long friends, at least good friends!       </a:t>
            </a:r>
            <a:endParaRPr lang="en-US" altLang="zh-HK" sz="30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altLang="zh-HK" sz="12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Your supervisor is the one to appreciate your good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2600" dirty="0">
                <a:solidFill>
                  <a:schemeClr val="tx1"/>
                </a:solidFill>
              </a:rPr>
              <a:t>Proactive attitude: arrange regular meeting?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2600" dirty="0">
                <a:solidFill>
                  <a:schemeClr val="tx1"/>
                </a:solidFill>
              </a:rPr>
              <a:t>Idea and findings: repeated idea or new?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2600" dirty="0">
                <a:solidFill>
                  <a:schemeClr val="tx1"/>
                </a:solidFill>
              </a:rPr>
              <a:t>Time arrangement: weekly or bi-weekly meeting?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2600" dirty="0">
                <a:solidFill>
                  <a:schemeClr val="tx1"/>
                </a:solidFill>
              </a:rPr>
              <a:t>Coordination with other parties (internal or external)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2600" dirty="0">
                <a:solidFill>
                  <a:schemeClr val="tx1"/>
                </a:solidFill>
              </a:rPr>
              <a:t>Manner in handling difficult situations or problem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2600" dirty="0">
                <a:solidFill>
                  <a:schemeClr val="tx1"/>
                </a:solidFill>
              </a:rPr>
              <a:t>Methods to find solution, at least the idea to walk out the solution.</a:t>
            </a:r>
          </a:p>
          <a:p>
            <a:pPr marL="9720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Pay adequate effort in the whole process as</a:t>
            </a:r>
          </a:p>
          <a:p>
            <a:pPr marL="3200400" lvl="7" indent="0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HK" altLang="zh-HK" sz="5600" b="1" i="1" u="sng" dirty="0">
                <a:solidFill>
                  <a:srgbClr val="FF0000"/>
                </a:solidFill>
              </a:rPr>
              <a:t>it is once a life-time</a:t>
            </a:r>
            <a:r>
              <a:rPr lang="en-HK" altLang="zh-HK" sz="5600" dirty="0">
                <a:solidFill>
                  <a:srgbClr val="FF0000"/>
                </a:solidFill>
              </a:rPr>
              <a:t>!</a:t>
            </a:r>
            <a:endParaRPr lang="en-HK" altLang="zh-HK" sz="3800" dirty="0">
              <a:solidFill>
                <a:srgbClr val="FF0000"/>
              </a:solidFill>
            </a:endParaRPr>
          </a:p>
          <a:p>
            <a:pPr marL="9720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altLang="zh-HK" sz="30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74652-A245-4366-BA0F-D112E709F51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913541" y="1770277"/>
            <a:ext cx="536451" cy="528254"/>
          </a:xfrm>
          <a:prstGeom prst="rect">
            <a:avLst/>
          </a:prstGeom>
        </p:spPr>
      </p:pic>
      <p:pic>
        <p:nvPicPr>
          <p:cNvPr id="1028" name="Picture 4" descr="Logo Ig PNG, Logo Instagram Icon Free DOWNLOAD - Free Transparent ...">
            <a:extLst>
              <a:ext uri="{FF2B5EF4-FFF2-40B4-BE49-F238E27FC236}">
                <a16:creationId xmlns:a16="http://schemas.microsoft.com/office/drawing/2014/main" id="{4E1AB591-A5E8-4820-8F06-B6FCD28A6B9B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53" y="1762080"/>
            <a:ext cx="536451" cy="53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36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Seminar Speakers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361061-124E-44CF-B51F-9115B5858293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93" y="2204666"/>
            <a:ext cx="2689764" cy="268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A618319-EC9B-4184-B088-4A021A43B2D6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552" y="1200159"/>
            <a:ext cx="2498395" cy="249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57964D3-7DA5-4780-8F61-0E71A3E41B8F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316" y="3624539"/>
            <a:ext cx="2689765" cy="268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AE64ECA-7A8A-49EE-BD21-5066AA6ADD72}"/>
              </a:ext>
            </a:extLst>
          </p:cNvPr>
          <p:cNvPicPr>
            <a:picLocks noChangeAspect="1" noChangeArrowheads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940" y="3818299"/>
            <a:ext cx="2498395" cy="249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7D770F-746C-AA67-E68A-6F3E2DE2370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85319" y="516507"/>
            <a:ext cx="3891981" cy="324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Capstone Seminar Schedule from Week 1 to 3: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1C1E421-7B13-4BD6-70E3-C35A2EFBC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" y="25685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6BA6A6-9FAC-A1D7-0135-328BFAC1C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49" y="2438280"/>
            <a:ext cx="9234911" cy="81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HK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EF5B4A-B933-AFF9-3B3F-F4A35EC7A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631844"/>
              </p:ext>
            </p:extLst>
          </p:nvPr>
        </p:nvGraphicFramePr>
        <p:xfrm>
          <a:off x="565148" y="1261872"/>
          <a:ext cx="8248650" cy="50524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9505">
                  <a:extLst>
                    <a:ext uri="{9D8B030D-6E8A-4147-A177-3AD203B41FA5}">
                      <a16:colId xmlns:a16="http://schemas.microsoft.com/office/drawing/2014/main" val="301882324"/>
                    </a:ext>
                  </a:extLst>
                </a:gridCol>
                <a:gridCol w="7499145">
                  <a:extLst>
                    <a:ext uri="{9D8B030D-6E8A-4147-A177-3AD203B41FA5}">
                      <a16:colId xmlns:a16="http://schemas.microsoft.com/office/drawing/2014/main" val="2524365292"/>
                    </a:ext>
                  </a:extLst>
                </a:gridCol>
              </a:tblGrid>
              <a:tr h="355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000">
                          <a:effectLst/>
                        </a:rPr>
                        <a:t>Week</a:t>
                      </a:r>
                      <a:endParaRPr lang="en-HK" sz="10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000">
                          <a:effectLst/>
                        </a:rPr>
                        <a:t>Topic</a:t>
                      </a:r>
                      <a:endParaRPr lang="en-HK" sz="10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3081679282"/>
                  </a:ext>
                </a:extLst>
              </a:tr>
              <a:tr h="710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1 (Mon)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1 Sep</a:t>
                      </a:r>
                      <a:endParaRPr lang="en-HK" sz="12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effectLst/>
                        </a:rPr>
                        <a:t>Overview of Capstone Project/Finalized Proposal and Progress Report Writing/Library Resources</a:t>
                      </a:r>
                    </a:p>
                    <a:p>
                      <a:pPr>
                        <a:buNone/>
                      </a:pPr>
                      <a:r>
                        <a:rPr lang="en-HK" sz="1200" dirty="0">
                          <a:effectLst/>
                        </a:rPr>
                        <a:t> (By Dr Judy Tong, Ms Irene Song [ELC] &amp; Mr William Ho [LIB]) </a:t>
                      </a:r>
                      <a:endParaRPr lang="en-HK" sz="12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3172071719"/>
                  </a:ext>
                </a:extLst>
              </a:tr>
              <a:tr h="710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1 (Wed)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3 Sep</a:t>
                      </a:r>
                      <a:endParaRPr lang="en-HK" sz="12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effectLst/>
                        </a:rPr>
                        <a:t>Writing the 'Introduction'/What is 'Literature Review'?/Report Writing</a:t>
                      </a:r>
                    </a:p>
                    <a:p>
                      <a:pPr>
                        <a:buNone/>
                      </a:pPr>
                      <a:r>
                        <a:rPr lang="en-HK" sz="1200" dirty="0">
                          <a:effectLst/>
                        </a:rPr>
                        <a:t> (By Prof Achim Czerny) </a:t>
                      </a:r>
                      <a:endParaRPr lang="en-HK" sz="12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918275289"/>
                  </a:ext>
                </a:extLst>
              </a:tr>
              <a:tr h="710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2 (Mon)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8 Sep</a:t>
                      </a:r>
                      <a:endParaRPr lang="en-HK" sz="12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What is 'Methodology'?/Case Study Method/Data-Driven Case Study and Decision Making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 (By Prof. Kai Pan and Dr Patrick Tsang)</a:t>
                      </a:r>
                      <a:endParaRPr lang="en-HK" sz="12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3721862687"/>
                  </a:ext>
                </a:extLst>
              </a:tr>
              <a:tr h="710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2 (Wed)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10 Sep</a:t>
                      </a:r>
                      <a:endParaRPr lang="en-HK" sz="12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Empirical Study (First hour) and Preparing Presentation and Report, Modelling and Simulation &amp; Q&amp;A (Second hour)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 (By Prof. Sarah Wan and Prof. Anthony Pang) </a:t>
                      </a:r>
                      <a:endParaRPr lang="en-HK" sz="12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596372088"/>
                  </a:ext>
                </a:extLst>
              </a:tr>
              <a:tr h="710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3 (Mon)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15 Sep</a:t>
                      </a:r>
                      <a:endParaRPr lang="en-HK" sz="12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Questionnaires and Focus Groups (First hour) and General Advice on Capstone Project (Second hour)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(By Dr Judy Tong and Prof Achim Czerny)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 </a:t>
                      </a:r>
                      <a:endParaRPr lang="en-HK" sz="12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851501708"/>
                  </a:ext>
                </a:extLst>
              </a:tr>
              <a:tr h="114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3 (Wed)</a:t>
                      </a:r>
                    </a:p>
                    <a:p>
                      <a:pPr>
                        <a:buNone/>
                      </a:pPr>
                      <a:r>
                        <a:rPr lang="en-HK" sz="1200">
                          <a:effectLst/>
                        </a:rPr>
                        <a:t>17 Sep</a:t>
                      </a:r>
                      <a:endParaRPr lang="en-HK" sz="120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200" dirty="0">
                          <a:effectLst/>
                        </a:rPr>
                        <a:t>Wrap-up &amp; Q&amp;A session for Students for Capstone Project related questions. </a:t>
                      </a:r>
                    </a:p>
                    <a:p>
                      <a:pPr>
                        <a:buNone/>
                      </a:pPr>
                      <a:r>
                        <a:rPr lang="en-HK" sz="1200" dirty="0">
                          <a:effectLst/>
                        </a:rPr>
                        <a:t>(By Dr. Judy Tong and Dr. Patrick Tsang)</a:t>
                      </a:r>
                    </a:p>
                    <a:p>
                      <a:pPr>
                        <a:buNone/>
                      </a:pPr>
                      <a:endParaRPr lang="en-HK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HK" sz="1200" dirty="0">
                          <a:effectLst/>
                        </a:rPr>
                        <a:t>Remarks: Judy &amp; Patrick may also invite 2-3 fresh graduates in the past 1-2 years to come to share their experience in effective project management, communication, video presentation and so on for the last 15 to 20 minutes.</a:t>
                      </a:r>
                      <a:endParaRPr lang="en-HK" sz="1200" dirty="0">
                        <a:effectLst/>
                        <a:latin typeface="Times New Roman" panose="02020603050405020304" pitchFamily="18" charset="0"/>
                        <a:ea typeface="PMingLiU" panose="02020500000000000000" pitchFamily="18" charset="-120"/>
                        <a:cs typeface="Aptos" panose="020B00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336522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142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3"/>
          <p:cNvSpPr>
            <a:spLocks noGrp="1"/>
          </p:cNvSpPr>
          <p:nvPr>
            <p:ph type="title"/>
          </p:nvPr>
        </p:nvSpPr>
        <p:spPr>
          <a:xfrm>
            <a:off x="322263" y="1717675"/>
            <a:ext cx="5383212" cy="2483622"/>
          </a:xfrm>
        </p:spPr>
        <p:txBody>
          <a:bodyPr/>
          <a:lstStyle/>
          <a:p>
            <a:pPr eaLnBrk="1" hangingPunct="1"/>
            <a:r>
              <a:rPr lang="en-US" altLang="en-US" b="1" dirty="0"/>
              <a:t>What is Capstone Project?</a:t>
            </a:r>
          </a:p>
        </p:txBody>
      </p:sp>
    </p:spTree>
    <p:extLst>
      <p:ext uri="{BB962C8B-B14F-4D97-AF65-F5344CB8AC3E}">
        <p14:creationId xmlns:p14="http://schemas.microsoft.com/office/powerpoint/2010/main" val="2715568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altLang="zh-HK" b="1" u="sng" dirty="0"/>
              <a:t>Assessment Criteria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BEE44-84DF-BFB3-FC48-0198BC78D34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1385623"/>
            <a:ext cx="9144000" cy="408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21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Submission Timeline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B41FCD-7B3A-4634-A918-7828DABA4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05" y="5630080"/>
            <a:ext cx="8839200" cy="1101625"/>
          </a:xfrm>
        </p:spPr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400" b="1" baseline="30000" dirty="0">
                <a:solidFill>
                  <a:srgbClr val="FF0000"/>
                </a:solidFill>
              </a:rPr>
              <a:t>a</a:t>
            </a:r>
            <a:r>
              <a:rPr lang="en-US" sz="2400" b="1" dirty="0">
                <a:solidFill>
                  <a:srgbClr val="FF0000"/>
                </a:solidFill>
              </a:rPr>
              <a:t>Change of project topic is not allowed after submission of “Finalized Project Proposal”.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200" baseline="30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DB3AB6-827C-86C4-C4EB-A48C184C9CF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1094510"/>
            <a:ext cx="9144000" cy="453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81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1E6D-6118-4BBE-5771-72BB9CDC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48650" cy="793595"/>
          </a:xfrm>
        </p:spPr>
        <p:txBody>
          <a:bodyPr/>
          <a:lstStyle/>
          <a:p>
            <a:r>
              <a:rPr lang="en-HK" dirty="0">
                <a:highlight>
                  <a:srgbClr val="FFFF00"/>
                </a:highlight>
              </a:rPr>
              <a:t>Submission arrangement: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E8DBA-96B4-7A0E-66FE-9A1EF2619DA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1209" y="693012"/>
            <a:ext cx="7936991" cy="583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66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Project Nature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Case study;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Analysis/research;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Simulation/forecasting;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Policy study; and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Application of theories and </a:t>
            </a:r>
            <a:r>
              <a:rPr lang="en-US" altLang="zh-HK" sz="3000" dirty="0">
                <a:solidFill>
                  <a:schemeClr val="tx1"/>
                </a:solidFill>
              </a:rPr>
              <a:t>technologies.</a:t>
            </a:r>
          </a:p>
          <a:p>
            <a:pPr marL="97200" indent="0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US" altLang="zh-HK" sz="1200" dirty="0">
              <a:solidFill>
                <a:schemeClr val="tx1"/>
              </a:solidFill>
            </a:endParaRPr>
          </a:p>
          <a:p>
            <a:pPr marL="9720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zh-HK" sz="3000" b="1" dirty="0">
                <a:solidFill>
                  <a:srgbClr val="FF0000"/>
                </a:solidFill>
              </a:rPr>
              <a:t>Your project can also be a combination of two or more project nature. </a:t>
            </a:r>
            <a:endParaRPr lang="en-HK" altLang="zh-HK" sz="3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383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Project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502920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Shipping and Transport / Maritime Logistics / Cruise;</a:t>
            </a:r>
            <a:endParaRPr lang="en-US" altLang="zh-HK" sz="3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Maritime Law / Finance;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Port Terminals / Management;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Air Transport / Aviation Logistics;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Supply Chain Management;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Operations Management;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E-Logistics / Green Logistics / E-Commerce;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Information Technology Applications, e.g. Blockchain, ERP; and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chemeClr val="tx1"/>
                </a:solidFill>
              </a:rPr>
              <a:t>Road / Rail Transportation.</a:t>
            </a:r>
          </a:p>
        </p:txBody>
      </p:sp>
    </p:spTree>
    <p:extLst>
      <p:ext uri="{BB962C8B-B14F-4D97-AF65-F5344CB8AC3E}">
        <p14:creationId xmlns:p14="http://schemas.microsoft.com/office/powerpoint/2010/main" val="2323082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Final Grade and </a:t>
            </a:r>
            <a:r>
              <a:rPr lang="en-US" altLang="zh-TW" b="1" u="sng" dirty="0"/>
              <a:t>G</a:t>
            </a:r>
            <a:r>
              <a:rPr lang="en-HK" altLang="zh-TW" b="1" u="sng" dirty="0" err="1"/>
              <a:t>rade</a:t>
            </a:r>
            <a:r>
              <a:rPr lang="en-HK" altLang="zh-TW" b="1" u="sng" dirty="0"/>
              <a:t> Descriptors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EC7A2F-B55E-4742-9627-218DD38820E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05799" y="1186249"/>
            <a:ext cx="7132402" cy="50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77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502920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HK" sz="3000" dirty="0">
                <a:solidFill>
                  <a:schemeClr val="tx1"/>
                </a:solidFill>
              </a:rPr>
              <a:t>Plagiarism refers to “</a:t>
            </a:r>
            <a:r>
              <a:rPr lang="en-US" altLang="zh-HK" sz="3000" i="1" dirty="0">
                <a:solidFill>
                  <a:schemeClr val="tx1"/>
                </a:solidFill>
              </a:rPr>
              <a:t>the act of using the creative works of others (e.g. ideas, words, images or sound, etc.) in one’s own work without </a:t>
            </a:r>
            <a:r>
              <a:rPr lang="en-US" altLang="zh-HK" sz="3000" i="1" dirty="0">
                <a:solidFill>
                  <a:srgbClr val="FF0000"/>
                </a:solidFill>
              </a:rPr>
              <a:t>proper acknowledgment of the sources</a:t>
            </a:r>
            <a:r>
              <a:rPr lang="en-US" altLang="zh-HK" sz="3000" dirty="0">
                <a:solidFill>
                  <a:schemeClr val="tx1"/>
                </a:solidFill>
              </a:rPr>
              <a:t>”.</a:t>
            </a:r>
          </a:p>
          <a:p>
            <a:pPr marL="9720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en-US" altLang="zh-HK" sz="13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HK" sz="3000" dirty="0">
                <a:solidFill>
                  <a:schemeClr val="tx1"/>
                </a:solidFill>
              </a:rPr>
              <a:t>Students are required to </a:t>
            </a:r>
            <a:r>
              <a:rPr lang="en-US" altLang="zh-HK" sz="3000" dirty="0">
                <a:solidFill>
                  <a:srgbClr val="800080"/>
                </a:solidFill>
              </a:rPr>
              <a:t>submit their original work </a:t>
            </a:r>
            <a:r>
              <a:rPr lang="en-US" altLang="zh-HK" sz="3000" dirty="0">
                <a:solidFill>
                  <a:schemeClr val="tx1"/>
                </a:solidFill>
              </a:rPr>
              <a:t>and avoid any possible suggestion of plagiarism in the work they submit for grading or credit.</a:t>
            </a:r>
            <a:endParaRPr lang="en-HK" altLang="zh-HK" sz="3000" dirty="0">
              <a:solidFill>
                <a:schemeClr val="tx1"/>
              </a:solidFill>
            </a:endParaRPr>
          </a:p>
          <a:p>
            <a:pPr marL="9720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en-US" altLang="zh-HK" sz="13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HK" sz="3000" dirty="0">
                <a:solidFill>
                  <a:schemeClr val="tx1"/>
                </a:solidFill>
              </a:rPr>
              <a:t>Excuses such as “not knowing what is required” or “not knowing how to do it” will not be accepted. </a:t>
            </a:r>
            <a:endParaRPr lang="en-HK" altLang="zh-HK" sz="3000" dirty="0">
              <a:solidFill>
                <a:schemeClr val="tx1"/>
              </a:solidFill>
            </a:endParaRPr>
          </a:p>
          <a:p>
            <a:pPr marL="9720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en-US" altLang="zh-HK" sz="13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zh-HK" sz="3000" dirty="0">
                <a:solidFill>
                  <a:srgbClr val="FF0000"/>
                </a:solidFill>
              </a:rPr>
              <a:t>Any student and/or group who is found to have plagiarized any part of the Capstone Project will be given a fail grade ‘F’ for the subject</a:t>
            </a:r>
            <a:r>
              <a:rPr lang="en-US" altLang="zh-HK" sz="30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72705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39388A-72DD-489E-98C3-6A37021F6D22}"/>
              </a:ext>
            </a:extLst>
          </p:cNvPr>
          <p:cNvSpPr/>
          <p:nvPr/>
        </p:nvSpPr>
        <p:spPr>
          <a:xfrm>
            <a:off x="786581" y="2920181"/>
            <a:ext cx="4463845" cy="24285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Structure of Capstone Project Final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5029201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Cover Page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Abstract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Acknowledgement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Contents Page 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Introduction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Literature Review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Methodology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Findings/Results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Discussion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Conclusion and Recommendations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References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altLang="zh-HK" sz="2400" dirty="0">
                <a:solidFill>
                  <a:schemeClr val="tx1"/>
                </a:solidFill>
              </a:rPr>
              <a:t>Appendices</a:t>
            </a:r>
            <a:endParaRPr lang="en-US" altLang="zh-HK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009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3"/>
          <p:cNvSpPr>
            <a:spLocks noGrp="1"/>
          </p:cNvSpPr>
          <p:nvPr>
            <p:ph type="title"/>
          </p:nvPr>
        </p:nvSpPr>
        <p:spPr>
          <a:xfrm>
            <a:off x="322263" y="1717675"/>
            <a:ext cx="5383212" cy="2052638"/>
          </a:xfrm>
        </p:spPr>
        <p:txBody>
          <a:bodyPr/>
          <a:lstStyle/>
          <a:p>
            <a:pPr eaLnBrk="1" hangingPunct="1"/>
            <a:r>
              <a:rPr lang="en-US" altLang="en-US" b="1" dirty="0" err="1"/>
              <a:t>Finalised</a:t>
            </a:r>
            <a:r>
              <a:rPr lang="en-US" altLang="en-US" b="1" dirty="0"/>
              <a:t> Project Proposal</a:t>
            </a:r>
          </a:p>
        </p:txBody>
      </p:sp>
    </p:spTree>
    <p:extLst>
      <p:ext uri="{BB962C8B-B14F-4D97-AF65-F5344CB8AC3E}">
        <p14:creationId xmlns:p14="http://schemas.microsoft.com/office/powerpoint/2010/main" val="2926666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Submission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Type-written, Times New Roman font size 12, 1-inch margin on all sides, single-line spacing, between </a:t>
            </a:r>
            <a:r>
              <a:rPr lang="en-HK" altLang="zh-HK" b="1" dirty="0">
                <a:solidFill>
                  <a:srgbClr val="FF0000"/>
                </a:solidFill>
              </a:rPr>
              <a:t>____ -_____</a:t>
            </a:r>
            <a:r>
              <a:rPr lang="en-HK" altLang="zh-HK" dirty="0">
                <a:solidFill>
                  <a:schemeClr val="tx1"/>
                </a:solidFill>
              </a:rPr>
              <a:t> words (excluding references, tables and appendices). State the word count on the last page.</a:t>
            </a:r>
            <a:r>
              <a:rPr lang="en-HK" altLang="zh-HK" sz="3000" dirty="0">
                <a:solidFill>
                  <a:schemeClr val="tx1"/>
                </a:solidFill>
              </a:rPr>
              <a:t> </a:t>
            </a:r>
            <a:endParaRPr lang="en-US" altLang="zh-HK" sz="30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zh-HK" sz="12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One representative to submit to Turnitin (via Blackboard) and also one softcopy to their respective supervisor via email by the set deadline.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b="1" dirty="0">
                <a:solidFill>
                  <a:srgbClr val="FF0000"/>
                </a:solidFill>
              </a:rPr>
              <a:t>NOT</a:t>
            </a:r>
            <a:r>
              <a:rPr lang="en-HK" altLang="zh-HK" dirty="0">
                <a:solidFill>
                  <a:schemeClr val="tx1"/>
                </a:solidFill>
              </a:rPr>
              <a:t> allowed to change the project topic after their submission of the “Finalised Project Proposal”.</a:t>
            </a:r>
            <a:endParaRPr lang="en-US" altLang="zh-H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9374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Submission Arrangement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A26F7C4-553D-41A2-9056-5B76274FB9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6700" y="1284571"/>
          <a:ext cx="8464345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50358">
                  <a:extLst>
                    <a:ext uri="{9D8B030D-6E8A-4147-A177-3AD203B41FA5}">
                      <a16:colId xmlns:a16="http://schemas.microsoft.com/office/drawing/2014/main" val="3892045308"/>
                    </a:ext>
                  </a:extLst>
                </a:gridCol>
                <a:gridCol w="2595374">
                  <a:extLst>
                    <a:ext uri="{9D8B030D-6E8A-4147-A177-3AD203B41FA5}">
                      <a16:colId xmlns:a16="http://schemas.microsoft.com/office/drawing/2014/main" val="683703553"/>
                    </a:ext>
                  </a:extLst>
                </a:gridCol>
                <a:gridCol w="1809478">
                  <a:extLst>
                    <a:ext uri="{9D8B030D-6E8A-4147-A177-3AD203B41FA5}">
                      <a16:colId xmlns:a16="http://schemas.microsoft.com/office/drawing/2014/main" val="1989210719"/>
                    </a:ext>
                  </a:extLst>
                </a:gridCol>
                <a:gridCol w="1809135">
                  <a:extLst>
                    <a:ext uri="{9D8B030D-6E8A-4147-A177-3AD203B41FA5}">
                      <a16:colId xmlns:a16="http://schemas.microsoft.com/office/drawing/2014/main" val="3984140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altLang="zh-HK" sz="2400" dirty="0">
                          <a:latin typeface="+mn-lt"/>
                        </a:rPr>
                        <a:t>Turnitin (Blackboard)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sz="2400" dirty="0">
                          <a:latin typeface="+mn-lt"/>
                        </a:rPr>
                        <a:t>Project Supervisor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sz="2400" dirty="0">
                          <a:latin typeface="+mn-lt"/>
                        </a:rPr>
                        <a:t>Project Moderator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78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altLang="zh-HK" sz="2400" dirty="0">
                          <a:latin typeface="+mn-lt"/>
                        </a:rPr>
                        <a:t>Finalised Project Proposal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altLang="zh-HK" sz="2400" dirty="0">
                          <a:latin typeface="+mn-lt"/>
                        </a:rPr>
                        <a:t>Submit your proposal with a filename: “</a:t>
                      </a:r>
                      <a:r>
                        <a:rPr lang="en-HK" altLang="zh-HK" sz="2400" i="1" dirty="0">
                          <a:solidFill>
                            <a:srgbClr val="800080"/>
                          </a:solidFill>
                          <a:latin typeface="+mn-lt"/>
                        </a:rPr>
                        <a:t>GroupNo_StudentName_StudentID_proposal.doc/pdf</a:t>
                      </a:r>
                      <a:r>
                        <a:rPr lang="en-HK" altLang="zh-HK" sz="2400" dirty="0">
                          <a:latin typeface="+mn-lt"/>
                        </a:rPr>
                        <a:t>”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sz="2400" dirty="0">
                          <a:latin typeface="+mn-lt"/>
                        </a:rPr>
                        <a:t>By email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sz="2400" dirty="0">
                          <a:latin typeface="+mn-lt"/>
                        </a:rPr>
                        <a:t>N/A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407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7127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HK" b="1" u="sng" dirty="0"/>
              <a:t>Contents of Proposal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/>
          </a:bodyPr>
          <a:lstStyle/>
          <a:p>
            <a:pPr marL="668700" indent="-571500" algn="just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lpha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Project title; [</a:t>
            </a:r>
            <a:r>
              <a:rPr lang="en-HK" altLang="zh-HK" dirty="0">
                <a:solidFill>
                  <a:srgbClr val="0066FF"/>
                </a:solidFill>
              </a:rPr>
              <a:t>Week 1</a:t>
            </a:r>
            <a:r>
              <a:rPr lang="en-HK" altLang="zh-HK" dirty="0">
                <a:solidFill>
                  <a:schemeClr val="tx1"/>
                </a:solidFill>
              </a:rPr>
              <a:t>]</a:t>
            </a:r>
          </a:p>
          <a:p>
            <a:pPr marL="668700" indent="-571500" algn="just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lpha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Background of study; [</a:t>
            </a:r>
            <a:r>
              <a:rPr lang="en-HK" altLang="zh-HK" dirty="0">
                <a:solidFill>
                  <a:srgbClr val="0066FF"/>
                </a:solidFill>
              </a:rPr>
              <a:t>Week 1</a:t>
            </a:r>
            <a:r>
              <a:rPr lang="en-HK" altLang="zh-HK" dirty="0">
                <a:solidFill>
                  <a:schemeClr val="tx1"/>
                </a:solidFill>
              </a:rPr>
              <a:t>]</a:t>
            </a:r>
          </a:p>
          <a:p>
            <a:pPr marL="668700" indent="-571500" algn="just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lpha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Aims/Objectives [</a:t>
            </a:r>
            <a:r>
              <a:rPr lang="en-HK" altLang="zh-HK" dirty="0">
                <a:solidFill>
                  <a:srgbClr val="0066FF"/>
                </a:solidFill>
              </a:rPr>
              <a:t>Week 1</a:t>
            </a:r>
            <a:r>
              <a:rPr lang="en-HK" altLang="zh-HK" dirty="0">
                <a:solidFill>
                  <a:schemeClr val="tx1"/>
                </a:solidFill>
              </a:rPr>
              <a:t>]</a:t>
            </a:r>
          </a:p>
          <a:p>
            <a:pPr marL="668700" indent="-571500" algn="just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lpha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Keywords [</a:t>
            </a:r>
            <a:r>
              <a:rPr lang="en-HK" altLang="zh-HK" dirty="0">
                <a:solidFill>
                  <a:srgbClr val="0066FF"/>
                </a:solidFill>
              </a:rPr>
              <a:t>Week 1</a:t>
            </a:r>
            <a:r>
              <a:rPr lang="en-HK" altLang="zh-HK" dirty="0">
                <a:solidFill>
                  <a:schemeClr val="tx1"/>
                </a:solidFill>
              </a:rPr>
              <a:t>]</a:t>
            </a:r>
          </a:p>
          <a:p>
            <a:pPr marL="668700" indent="-571500" algn="just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lpha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Brief literature review; [</a:t>
            </a:r>
            <a:r>
              <a:rPr lang="en-HK" altLang="zh-HK" dirty="0">
                <a:solidFill>
                  <a:srgbClr val="0066FF"/>
                </a:solidFill>
              </a:rPr>
              <a:t>Week 2</a:t>
            </a:r>
            <a:r>
              <a:rPr lang="en-HK" altLang="zh-HK" dirty="0">
                <a:solidFill>
                  <a:schemeClr val="tx1"/>
                </a:solidFill>
              </a:rPr>
              <a:t>]</a:t>
            </a:r>
          </a:p>
          <a:p>
            <a:pPr marL="668700" indent="-571500" algn="just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lpha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Conceptual framework (if any) [</a:t>
            </a:r>
            <a:r>
              <a:rPr lang="en-HK" altLang="zh-HK" dirty="0">
                <a:solidFill>
                  <a:srgbClr val="0066FF"/>
                </a:solidFill>
              </a:rPr>
              <a:t>Week 2</a:t>
            </a:r>
            <a:r>
              <a:rPr lang="en-HK" altLang="zh-HK" dirty="0">
                <a:solidFill>
                  <a:schemeClr val="tx1"/>
                </a:solidFill>
              </a:rPr>
              <a:t>]</a:t>
            </a:r>
          </a:p>
          <a:p>
            <a:pPr marL="668700" indent="-571500" algn="just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lpha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Methodology [</a:t>
            </a:r>
            <a:r>
              <a:rPr lang="en-HK" altLang="zh-HK" dirty="0">
                <a:solidFill>
                  <a:srgbClr val="0066FF"/>
                </a:solidFill>
              </a:rPr>
              <a:t>Week 3</a:t>
            </a:r>
            <a:r>
              <a:rPr lang="en-HK" altLang="zh-HK" dirty="0">
                <a:solidFill>
                  <a:schemeClr val="tx1"/>
                </a:solidFill>
              </a:rPr>
              <a:t>]</a:t>
            </a:r>
          </a:p>
          <a:p>
            <a:pPr marL="668700" indent="-571500" algn="just">
              <a:lnSpc>
                <a:spcPct val="13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alpha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References [</a:t>
            </a:r>
            <a:r>
              <a:rPr lang="en-HK" altLang="zh-HK" dirty="0">
                <a:solidFill>
                  <a:srgbClr val="0066FF"/>
                </a:solidFill>
              </a:rPr>
              <a:t>Week 2</a:t>
            </a:r>
            <a:r>
              <a:rPr lang="en-HK" altLang="zh-HK" dirty="0">
                <a:solidFill>
                  <a:schemeClr val="tx1"/>
                </a:solidFill>
              </a:rPr>
              <a:t>]</a:t>
            </a:r>
            <a:endParaRPr lang="en-US" altLang="zh-H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350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HK" b="1" u="sng" dirty="0"/>
              <a:t>T</a:t>
            </a:r>
            <a:r>
              <a:rPr lang="en-US" b="1" u="sng" dirty="0" err="1"/>
              <a:t>emplate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721CF-05F0-46A7-8781-833287359B0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0" y="1186249"/>
            <a:ext cx="4423288" cy="3709525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9623D6-F58E-46DB-A559-19F9C57B6C7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981" y="1186249"/>
            <a:ext cx="4257427" cy="4902084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23721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HK" b="1" u="sng" dirty="0"/>
              <a:t>Sample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2F0C5-8F16-43AC-8BA6-BA3BE40170E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001935" y="543696"/>
            <a:ext cx="6365316" cy="5611762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331264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HK" b="1" u="sng" dirty="0"/>
              <a:t>(a) Project Title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434849" cy="4891859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A specific and meaningful title should include keywords/content words.</a:t>
            </a:r>
          </a:p>
          <a:p>
            <a:pPr marL="97200" indent="0" algn="just">
              <a:lnSpc>
                <a:spcPct val="130000"/>
              </a:lnSpc>
              <a:spcBef>
                <a:spcPts val="0"/>
              </a:spcBef>
              <a:buNone/>
              <a:defRPr/>
            </a:pPr>
            <a:endParaRPr lang="en-HK" altLang="zh-HK" dirty="0">
              <a:solidFill>
                <a:schemeClr val="tx1"/>
              </a:solidFill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What is a good project title?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defRPr/>
            </a:pPr>
            <a:endParaRPr lang="en-HK" altLang="zh-HK" dirty="0">
              <a:solidFill>
                <a:schemeClr val="tx1"/>
              </a:solidFill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What is a bad project title?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defRPr/>
            </a:pPr>
            <a:endParaRPr lang="en-HK" altLang="zh-HK" dirty="0">
              <a:solidFill>
                <a:schemeClr val="tx1"/>
              </a:solidFill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What is a project title with too big scope?</a:t>
            </a:r>
          </a:p>
          <a:p>
            <a:pPr algn="just">
              <a:lnSpc>
                <a:spcPct val="130000"/>
              </a:lnSpc>
              <a:spcBef>
                <a:spcPts val="0"/>
              </a:spcBef>
              <a:defRPr/>
            </a:pPr>
            <a:endParaRPr lang="en-HK" altLang="zh-HK" dirty="0">
              <a:solidFill>
                <a:schemeClr val="tx1"/>
              </a:solidFill>
            </a:endParaRPr>
          </a:p>
          <a:p>
            <a:pPr marL="97200" indent="0" algn="just">
              <a:lnSpc>
                <a:spcPct val="130000"/>
              </a:lnSpc>
              <a:spcBef>
                <a:spcPts val="0"/>
              </a:spcBef>
              <a:buNone/>
              <a:defRPr/>
            </a:pPr>
            <a:endParaRPr lang="en-HK" altLang="zh-H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401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4808-3C07-8B82-1B07-A24FF916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96" y="582690"/>
            <a:ext cx="8248650" cy="793595"/>
          </a:xfrm>
        </p:spPr>
        <p:txBody>
          <a:bodyPr>
            <a:normAutofit/>
          </a:bodyPr>
          <a:lstStyle/>
          <a:p>
            <a:r>
              <a:rPr lang="en-HK" dirty="0"/>
              <a:t>Project Titles from Previous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B54F4-7775-0B0C-A4C2-35E53197E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498" y="1458581"/>
            <a:ext cx="8795004" cy="4424359"/>
          </a:xfrm>
        </p:spPr>
        <p:txBody>
          <a:bodyPr>
            <a:noAutofit/>
          </a:bodyPr>
          <a:lstStyle/>
          <a:p>
            <a:r>
              <a:rPr lang="en-HK" sz="1800" dirty="0"/>
              <a:t>Analysis of Factors that Affecting the Passenger Satisfaction of Departure Process at Hong Kong International Airport</a:t>
            </a:r>
          </a:p>
          <a:p>
            <a:r>
              <a:rPr lang="en-HK" sz="1800" dirty="0"/>
              <a:t>A demand forecasting model for LNG vessels’ fuel replenishment in Asia</a:t>
            </a:r>
          </a:p>
          <a:p>
            <a:r>
              <a:rPr lang="en-HK" sz="1800" dirty="0"/>
              <a:t>A Fresh Perspective for Hong Kong’s Transport Logistics: Sea-air cooperation</a:t>
            </a:r>
          </a:p>
          <a:p>
            <a:r>
              <a:rPr lang="en-HK" sz="1800" dirty="0"/>
              <a:t>A productivity study of a container terminal in Hong Kong</a:t>
            </a:r>
          </a:p>
          <a:p>
            <a:r>
              <a:rPr lang="en-HK" sz="1800" dirty="0"/>
              <a:t>A Study of Developing Strategies to Attracting Young Adults to the Maritime Industry</a:t>
            </a:r>
          </a:p>
          <a:p>
            <a:r>
              <a:rPr lang="en-HK" sz="1800" dirty="0"/>
              <a:t>A Study of Hong Kong's Current Ferry Services and Suggestions</a:t>
            </a:r>
          </a:p>
          <a:p>
            <a:r>
              <a:rPr lang="en-HK" sz="1800" dirty="0"/>
              <a:t>A Study of the Determining Factors for the Feasible and Successful Implementation of Autonomous Ship</a:t>
            </a:r>
          </a:p>
          <a:p>
            <a:r>
              <a:rPr lang="en-HK" sz="1800" dirty="0"/>
              <a:t>A Study of the Driving Factors for Positive and Motivational Learning in the ChatGPT Era</a:t>
            </a:r>
          </a:p>
          <a:p>
            <a:r>
              <a:rPr lang="en-HK" sz="1800" dirty="0"/>
              <a:t>A Study on Cold Chain Logistics Industry in Hong Kong: Challenges and Opportunities</a:t>
            </a:r>
          </a:p>
          <a:p>
            <a:endParaRPr lang="en-HK" sz="1800" dirty="0"/>
          </a:p>
        </p:txBody>
      </p:sp>
    </p:spTree>
    <p:extLst>
      <p:ext uri="{BB962C8B-B14F-4D97-AF65-F5344CB8AC3E}">
        <p14:creationId xmlns:p14="http://schemas.microsoft.com/office/powerpoint/2010/main" val="4094641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270B-F373-4FB3-57E8-EA2823D5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2BBE0-C394-41F9-2971-00FDE556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88" y="487233"/>
            <a:ext cx="8248650" cy="793595"/>
          </a:xfrm>
        </p:spPr>
        <p:txBody>
          <a:bodyPr>
            <a:normAutofit/>
          </a:bodyPr>
          <a:lstStyle/>
          <a:p>
            <a:r>
              <a:rPr lang="en-HK" dirty="0"/>
              <a:t>Project Titles from Previous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56A1E-84FA-8618-E006-396738527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16820"/>
            <a:ext cx="9160764" cy="4424359"/>
          </a:xfrm>
        </p:spPr>
        <p:txBody>
          <a:bodyPr>
            <a:noAutofit/>
          </a:bodyPr>
          <a:lstStyle/>
          <a:p>
            <a:r>
              <a:rPr lang="en-HK" sz="1800" dirty="0"/>
              <a:t>A study on green corridor in shipping</a:t>
            </a:r>
          </a:p>
          <a:p>
            <a:r>
              <a:rPr lang="en-HK" sz="1800" dirty="0"/>
              <a:t>A study on the decision-making process by vessel operators in the selection of LNG vessels and classification.</a:t>
            </a:r>
          </a:p>
          <a:p>
            <a:r>
              <a:rPr lang="en-HK" sz="1800" dirty="0"/>
              <a:t>AI-Powered Transformation: Revolutionizing E-commerce for Success</a:t>
            </a:r>
          </a:p>
          <a:p>
            <a:r>
              <a:rPr lang="en-HK" sz="1800" dirty="0"/>
              <a:t>An Exploratory Study of Implementing </a:t>
            </a:r>
            <a:r>
              <a:rPr lang="en-HK" sz="1800" dirty="0" err="1"/>
              <a:t>Meituan’s</a:t>
            </a:r>
            <a:r>
              <a:rPr lang="en-HK" sz="1800" dirty="0"/>
              <a:t> Quick Commerce Model in Hong Kong</a:t>
            </a:r>
          </a:p>
          <a:p>
            <a:r>
              <a:rPr lang="en-HK" sz="1800" dirty="0"/>
              <a:t>An exploratory study of the critical success factors of sustainable supply chain management of fast fashion in China</a:t>
            </a:r>
          </a:p>
          <a:p>
            <a:r>
              <a:rPr lang="en-HK" sz="1800" dirty="0"/>
              <a:t>Analysis And Improvement of Operations Management of KOLB LIFE</a:t>
            </a:r>
          </a:p>
          <a:p>
            <a:r>
              <a:rPr lang="en-HK" sz="1800" dirty="0"/>
              <a:t>Analysis of airport charges in the Asia-Pacific area</a:t>
            </a:r>
          </a:p>
          <a:p>
            <a:r>
              <a:rPr lang="en-HK" sz="1800" dirty="0"/>
              <a:t>Analysis of </a:t>
            </a:r>
            <a:r>
              <a:rPr lang="en-HK" sz="1800" dirty="0" err="1"/>
              <a:t>HKTVmall’s</a:t>
            </a:r>
            <a:r>
              <a:rPr lang="en-HK" sz="1800" dirty="0"/>
              <a:t> last-mile delivery practices from the local perspective</a:t>
            </a:r>
          </a:p>
          <a:p>
            <a:r>
              <a:rPr lang="en-HK" sz="1800" dirty="0" err="1"/>
              <a:t>Analyzing</a:t>
            </a:r>
            <a:r>
              <a:rPr lang="en-HK" sz="1800" dirty="0"/>
              <a:t> key factors of port congestion for future development in Hong Kong</a:t>
            </a:r>
          </a:p>
          <a:p>
            <a:r>
              <a:rPr lang="en-HK" sz="1800" dirty="0" err="1"/>
              <a:t>Analyzing</a:t>
            </a:r>
            <a:r>
              <a:rPr lang="en-HK" sz="1800" dirty="0"/>
              <a:t> the Competitiveness of Hong Kong International Airport in Comparison to Major Asian Airports through Key Determinants</a:t>
            </a:r>
          </a:p>
          <a:p>
            <a:r>
              <a:rPr lang="en-HK" sz="1800" dirty="0"/>
              <a:t>Assessing the Viability and Development of a Circular Shopping Bag Economy in Hong Kong</a:t>
            </a:r>
          </a:p>
          <a:p>
            <a:endParaRPr lang="en-HK" sz="1800" dirty="0"/>
          </a:p>
        </p:txBody>
      </p:sp>
    </p:spTree>
    <p:extLst>
      <p:ext uri="{BB962C8B-B14F-4D97-AF65-F5344CB8AC3E}">
        <p14:creationId xmlns:p14="http://schemas.microsoft.com/office/powerpoint/2010/main" val="35711677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3681B-CC52-EE68-548D-B66A9E3F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5F60C-FBEA-5960-6B88-8303829D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" y="569118"/>
            <a:ext cx="8248650" cy="793595"/>
          </a:xfrm>
        </p:spPr>
        <p:txBody>
          <a:bodyPr>
            <a:normAutofit/>
          </a:bodyPr>
          <a:lstStyle/>
          <a:p>
            <a:r>
              <a:rPr lang="en-HK" dirty="0"/>
              <a:t>Project Titles from Previous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54B33-703F-74B7-FF53-439B6528C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18" y="1298705"/>
            <a:ext cx="8703564" cy="4424359"/>
          </a:xfrm>
        </p:spPr>
        <p:txBody>
          <a:bodyPr>
            <a:noAutofit/>
          </a:bodyPr>
          <a:lstStyle/>
          <a:p>
            <a:r>
              <a:rPr lang="en-HK" sz="1800" dirty="0"/>
              <a:t>Autonomous shipping: Reviewing on Development and Foreseeable Challenges</a:t>
            </a:r>
          </a:p>
          <a:p>
            <a:r>
              <a:rPr lang="en-HK" sz="1800" dirty="0"/>
              <a:t>Cross-Regional Analysis and Optimization on Vaccine Supply Chain: A Focus Study on China Mainland and Hong Kong, the United States, and the United Kingdom</a:t>
            </a:r>
          </a:p>
          <a:p>
            <a:r>
              <a:rPr lang="en-HK" sz="1800" dirty="0"/>
              <a:t>Crowdsourcing logistics: factors that affect the willingness to participate in crowdsourced delivery services in HK</a:t>
            </a:r>
          </a:p>
          <a:p>
            <a:r>
              <a:rPr lang="en-HK" sz="1800" dirty="0"/>
              <a:t>Effective Forecast and Replenishment Strategies:  A Case Study on Hong Kong's Local Supermarket Replenishment System</a:t>
            </a:r>
          </a:p>
          <a:p>
            <a:r>
              <a:rPr lang="en-HK" sz="1800" dirty="0"/>
              <a:t>Efficiency and Effectiveness of Automated Warehouse Operations – A case study of ABC Company</a:t>
            </a:r>
          </a:p>
          <a:p>
            <a:r>
              <a:rPr lang="en-HK" sz="1800" dirty="0"/>
              <a:t>Enhancing E-Commerce Supply Chain Efficiency: A Case Study of Tico </a:t>
            </a:r>
            <a:r>
              <a:rPr lang="en-HK" sz="1800" dirty="0" err="1"/>
              <a:t>Jewelry</a:t>
            </a:r>
            <a:r>
              <a:rPr lang="en-HK" sz="1800" dirty="0"/>
              <a:t> Limited</a:t>
            </a:r>
          </a:p>
          <a:p>
            <a:r>
              <a:rPr lang="en-HK" sz="1800" dirty="0"/>
              <a:t>Enhancing Hong Kong Based Airlines' Competitiveness in Asia Pacific Region</a:t>
            </a:r>
          </a:p>
          <a:p>
            <a:r>
              <a:rPr lang="en-HK" sz="1800" dirty="0"/>
              <a:t>Enhancing Operational Efficiency and Customer Satisfaction in Public Light Bus Service: A Decision-Making Mechanism</a:t>
            </a:r>
          </a:p>
          <a:p>
            <a:r>
              <a:rPr lang="en-HK" sz="1800" dirty="0"/>
              <a:t>Evaluating the Environmental Sustainability Practices of Shipbuilding Industry in China: A Case Study of the Shipbuilding Industry in China</a:t>
            </a:r>
          </a:p>
          <a:p>
            <a:endParaRPr lang="en-HK" sz="1800" dirty="0"/>
          </a:p>
        </p:txBody>
      </p:sp>
    </p:spTree>
    <p:extLst>
      <p:ext uri="{BB962C8B-B14F-4D97-AF65-F5344CB8AC3E}">
        <p14:creationId xmlns:p14="http://schemas.microsoft.com/office/powerpoint/2010/main" val="602504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0FED9-4D80-6BC7-96F9-F9EE42A83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A083-1807-43F0-7E3C-0FB52EE54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68" y="450246"/>
            <a:ext cx="8248650" cy="793595"/>
          </a:xfrm>
        </p:spPr>
        <p:txBody>
          <a:bodyPr>
            <a:normAutofit/>
          </a:bodyPr>
          <a:lstStyle/>
          <a:p>
            <a:r>
              <a:rPr lang="en-HK" dirty="0"/>
              <a:t>Project Titles from Previous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AB32C-5224-6469-F3E1-D40EB02AA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" y="1243841"/>
            <a:ext cx="8997696" cy="5769607"/>
          </a:xfrm>
        </p:spPr>
        <p:txBody>
          <a:bodyPr>
            <a:noAutofit/>
          </a:bodyPr>
          <a:lstStyle/>
          <a:p>
            <a:r>
              <a:rPr lang="en-HK" sz="1800" dirty="0"/>
              <a:t>Exploratory Study of Adopting IoT-based Smart Bin for Waste Management in Hong Kong</a:t>
            </a:r>
          </a:p>
          <a:p>
            <a:r>
              <a:rPr lang="en-HK" sz="1800" dirty="0"/>
              <a:t>Exploratory study of critical success factors of cold chain smart locker in Hong Kong</a:t>
            </a:r>
          </a:p>
          <a:p>
            <a:r>
              <a:rPr lang="en-HK" sz="1800" dirty="0"/>
              <a:t>Factors influencing mode selections of full-service carriers and low-cost carriers in Hong Kong Market</a:t>
            </a:r>
          </a:p>
          <a:p>
            <a:r>
              <a:rPr lang="en-HK" sz="1800" dirty="0"/>
              <a:t>Feasibility Analysis of </a:t>
            </a:r>
            <a:r>
              <a:rPr lang="en-HK" sz="1800" dirty="0" err="1"/>
              <a:t>Freshippo's</a:t>
            </a:r>
            <a:r>
              <a:rPr lang="en-HK" sz="1800" dirty="0"/>
              <a:t> New Retail Model in Hong Kong</a:t>
            </a:r>
          </a:p>
          <a:p>
            <a:r>
              <a:rPr lang="en-HK" sz="1800" dirty="0"/>
              <a:t>Feasibility of electric scooter as a first/last-mile transportation in New Territories from end user perspective</a:t>
            </a:r>
          </a:p>
          <a:p>
            <a:r>
              <a:rPr lang="en-HK" sz="1800" dirty="0"/>
              <a:t>How alternatives fuels influence shipping industry?</a:t>
            </a:r>
          </a:p>
          <a:p>
            <a:r>
              <a:rPr lang="en-HK" sz="1800" dirty="0"/>
              <a:t>How can light rail transit be integrated with roads?</a:t>
            </a:r>
          </a:p>
          <a:p>
            <a:r>
              <a:rPr lang="en-HK" sz="1800" dirty="0"/>
              <a:t>Introduction of an Airport Bus seat and luggage rack reservation system</a:t>
            </a:r>
          </a:p>
          <a:p>
            <a:r>
              <a:rPr lang="en-HK" sz="1800" dirty="0"/>
              <a:t>Is Hong Kong International Airport (HKIA) really a green airport?</a:t>
            </a:r>
          </a:p>
          <a:p>
            <a:r>
              <a:rPr lang="en-HK" sz="1800" dirty="0"/>
              <a:t>Labour Shortage in the Aviation Industry: The Case of Hong Kong</a:t>
            </a:r>
          </a:p>
          <a:p>
            <a:r>
              <a:rPr lang="en-HK" sz="1800" dirty="0"/>
              <a:t>Leveraging AI Chatbot to Improve Customer Experience on Online Food Delivery Platform</a:t>
            </a:r>
          </a:p>
        </p:txBody>
      </p:sp>
    </p:spTree>
    <p:extLst>
      <p:ext uri="{BB962C8B-B14F-4D97-AF65-F5344CB8AC3E}">
        <p14:creationId xmlns:p14="http://schemas.microsoft.com/office/powerpoint/2010/main" val="29046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D2EA2-4FDF-F88F-717B-EF9B26D5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A084-72BD-1110-4EB1-D573B28F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495966"/>
            <a:ext cx="8248650" cy="793595"/>
          </a:xfrm>
        </p:spPr>
        <p:txBody>
          <a:bodyPr>
            <a:normAutofit/>
          </a:bodyPr>
          <a:lstStyle/>
          <a:p>
            <a:r>
              <a:rPr lang="en-HK" dirty="0"/>
              <a:t>Project Titles from Previous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C1CE3-0065-978F-1A58-1280748B5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1289561"/>
            <a:ext cx="8924544" cy="4424359"/>
          </a:xfrm>
        </p:spPr>
        <p:txBody>
          <a:bodyPr>
            <a:noAutofit/>
          </a:bodyPr>
          <a:lstStyle/>
          <a:p>
            <a:r>
              <a:rPr lang="en-HK" sz="1800" dirty="0"/>
              <a:t>Measuring Service Quality Dimensions of Campus Facilities in Higher Education Institutions: The Case of Pao Yue-Kong Library of The Hong Kong Polytechnic University</a:t>
            </a:r>
          </a:p>
          <a:p>
            <a:r>
              <a:rPr lang="en-HK" sz="1800" dirty="0"/>
              <a:t>On Deploying Warehouse Robots to Alleviate Road Obstruction in Yau Ma Tei Fruits </a:t>
            </a:r>
          </a:p>
          <a:p>
            <a:r>
              <a:rPr lang="en-HK" sz="1800" dirty="0"/>
              <a:t>Optimization of Emergency Medical Services</a:t>
            </a:r>
          </a:p>
          <a:p>
            <a:r>
              <a:rPr lang="en-HK" sz="1800" dirty="0"/>
              <a:t>Progressive liberalization to open skies</a:t>
            </a:r>
          </a:p>
          <a:p>
            <a:r>
              <a:rPr lang="en-HK" sz="1800" dirty="0"/>
              <a:t>Recommending travel route for tourists in Hong Kong by </a:t>
            </a:r>
            <a:r>
              <a:rPr lang="en-HK" sz="1800" dirty="0" err="1"/>
              <a:t>analyzing</a:t>
            </a:r>
            <a:r>
              <a:rPr lang="en-HK" sz="1800" dirty="0"/>
              <a:t> geotagged photos</a:t>
            </a:r>
          </a:p>
          <a:p>
            <a:r>
              <a:rPr lang="en-HK" sz="1800" dirty="0"/>
              <a:t>Research on Electric Taxi Charging Infrastructure: A Strategic Analysis of Charging Station Allocation in Hong Kong</a:t>
            </a:r>
          </a:p>
          <a:p>
            <a:r>
              <a:rPr lang="en-HK" sz="1800" dirty="0"/>
              <a:t>Study of Hot Toys Supply Chain Operation</a:t>
            </a:r>
          </a:p>
          <a:p>
            <a:r>
              <a:rPr lang="en-HK" sz="1800" dirty="0"/>
              <a:t>Study of the Impacts of Pre/Post Sale Services of E-Retail Platforms on Repurchase Intention and Customer Satisfaction</a:t>
            </a:r>
          </a:p>
          <a:p>
            <a:r>
              <a:rPr lang="en-HK" sz="1800" dirty="0"/>
              <a:t>Study on how to improve the operations efficiency of Resource Capital Football Club</a:t>
            </a:r>
          </a:p>
          <a:p>
            <a:r>
              <a:rPr lang="en-HK" sz="1800" dirty="0"/>
              <a:t>Tackling Hong Kong Distribution Warehouse’s Common Challenges with Future Warehouse Technologies</a:t>
            </a:r>
          </a:p>
          <a:p>
            <a:endParaRPr lang="en-HK" sz="1800" dirty="0"/>
          </a:p>
        </p:txBody>
      </p:sp>
    </p:spTree>
    <p:extLst>
      <p:ext uri="{BB962C8B-B14F-4D97-AF65-F5344CB8AC3E}">
        <p14:creationId xmlns:p14="http://schemas.microsoft.com/office/powerpoint/2010/main" val="2799836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5DB7F-4DC3-C46C-3575-2F836D30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D322-46A1-C188-EFC0-311CEECE6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64" y="546114"/>
            <a:ext cx="8248650" cy="793595"/>
          </a:xfrm>
        </p:spPr>
        <p:txBody>
          <a:bodyPr>
            <a:normAutofit fontScale="90000"/>
          </a:bodyPr>
          <a:lstStyle/>
          <a:p>
            <a:r>
              <a:rPr lang="en-HK" dirty="0"/>
              <a:t>Project Titles from Previous Years (2023-24)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A46DF-ECBA-E58F-EDFF-BC839BC20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1339709"/>
            <a:ext cx="8924544" cy="4424359"/>
          </a:xfrm>
        </p:spPr>
        <p:txBody>
          <a:bodyPr>
            <a:noAutofit/>
          </a:bodyPr>
          <a:lstStyle/>
          <a:p>
            <a:r>
              <a:rPr lang="en-HK" sz="1800" dirty="0"/>
              <a:t>The challenge of implementing Electrified Ground Service Equipment (</a:t>
            </a:r>
            <a:r>
              <a:rPr lang="en-HK" sz="1800" dirty="0" err="1"/>
              <a:t>eGSE</a:t>
            </a:r>
            <a:r>
              <a:rPr lang="en-HK" sz="1800" dirty="0"/>
              <a:t>) at Hong Kong International Airport</a:t>
            </a:r>
          </a:p>
          <a:p>
            <a:r>
              <a:rPr lang="en-HK" sz="1800" dirty="0"/>
              <a:t>The Economic Feasibility of Using Hydrogen Fuel for Sun Ferry Vessels</a:t>
            </a:r>
          </a:p>
          <a:p>
            <a:r>
              <a:rPr lang="en-HK" sz="1800" dirty="0"/>
              <a:t>The Future Development of Green Packaging in Hong Kong’s E-commerce</a:t>
            </a:r>
          </a:p>
          <a:p>
            <a:r>
              <a:rPr lang="en-HK" sz="1800" dirty="0"/>
              <a:t>The Green Shipping Vision: A Policy Analysis</a:t>
            </a:r>
          </a:p>
          <a:p>
            <a:r>
              <a:rPr lang="en-HK" sz="1800" dirty="0"/>
              <a:t>The Hong Kong Waterborne Transportation – New Business Model of “Water Taxi"</a:t>
            </a:r>
          </a:p>
          <a:p>
            <a:r>
              <a:rPr lang="en-HK" sz="1800" dirty="0"/>
              <a:t>The impact of Hong Kong government policy on its airline and passengers during Covid-19</a:t>
            </a:r>
          </a:p>
          <a:p>
            <a:r>
              <a:rPr lang="en-HK" sz="1800" dirty="0"/>
              <a:t>The Impacts of Artificial Intelligence to Newcomer</a:t>
            </a:r>
          </a:p>
          <a:p>
            <a:r>
              <a:rPr lang="en-HK" sz="1800" dirty="0"/>
              <a:t>The possibility and impact of implementing a four-day workweek for medical care in Hong Kong</a:t>
            </a:r>
          </a:p>
          <a:p>
            <a:r>
              <a:rPr lang="en-HK" sz="1800" dirty="0"/>
              <a:t>Using artificial intelligence to enhance customer service in airline industry in Hong Kong</a:t>
            </a:r>
          </a:p>
          <a:p>
            <a:r>
              <a:rPr lang="en-HK" sz="1800" dirty="0"/>
              <a:t>Ways to Bring Convenience to People with Visually Impaired on Taking Public Transportation</a:t>
            </a:r>
          </a:p>
          <a:p>
            <a:endParaRPr lang="en-HK" sz="1800" dirty="0"/>
          </a:p>
        </p:txBody>
      </p:sp>
    </p:spTree>
    <p:extLst>
      <p:ext uri="{BB962C8B-B14F-4D97-AF65-F5344CB8AC3E}">
        <p14:creationId xmlns:p14="http://schemas.microsoft.com/office/powerpoint/2010/main" val="24132594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04E4-0169-1734-3358-EBF01FFCB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b="1" u="sng" dirty="0"/>
              <a:t>Best LMS Capstone Projects in the past: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F5C70F-D649-5A7C-19D6-E22B88DE938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3013" y="1518161"/>
            <a:ext cx="8037974" cy="4527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E0BFC7-1A5A-34D0-6D35-9F784C48B2C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25086" y="4973713"/>
            <a:ext cx="1608243" cy="160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629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HK" b="1" u="sng" dirty="0"/>
              <a:t>(b) Background of Study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/>
          </a:bodyPr>
          <a:lstStyle/>
          <a:p>
            <a:pPr marL="668700" indent="-571500" algn="just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tabLst>
                <a:tab pos="4308475" algn="l"/>
              </a:tabLst>
              <a:defRPr/>
            </a:pPr>
            <a:r>
              <a:rPr lang="en-HK" altLang="zh-HK" dirty="0">
                <a:solidFill>
                  <a:schemeClr val="tx1"/>
                </a:solidFill>
              </a:rPr>
              <a:t>A general </a:t>
            </a:r>
            <a:r>
              <a:rPr lang="en-HK" altLang="zh-HK" dirty="0">
                <a:solidFill>
                  <a:srgbClr val="800080"/>
                </a:solidFill>
              </a:rPr>
              <a:t>statement of fact related to your study </a:t>
            </a:r>
            <a:r>
              <a:rPr lang="en-HK" altLang="zh-HK" dirty="0">
                <a:solidFill>
                  <a:schemeClr val="tx1"/>
                </a:solidFill>
              </a:rPr>
              <a:t>(with essential background information and relationship between your research and the general area of study);</a:t>
            </a:r>
          </a:p>
          <a:p>
            <a:pPr marL="382950" indent="-285750" algn="just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tabLst>
                <a:tab pos="4308475" algn="l"/>
              </a:tabLst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marL="668700" indent="-571500" algn="just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A more specific statement about the </a:t>
            </a:r>
            <a:r>
              <a:rPr lang="en-HK" altLang="zh-HK" dirty="0">
                <a:solidFill>
                  <a:srgbClr val="800080"/>
                </a:solidFill>
              </a:rPr>
              <a:t>issues or problems already studied by other researchers</a:t>
            </a:r>
            <a:r>
              <a:rPr lang="en-HK" altLang="zh-HK" dirty="0">
                <a:solidFill>
                  <a:schemeClr val="tx1"/>
                </a:solidFill>
              </a:rPr>
              <a:t>;</a:t>
            </a:r>
          </a:p>
          <a:p>
            <a:pPr marL="382950" indent="-285750" algn="just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marL="668700" indent="-571500" algn="just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Statement that indicate the </a:t>
            </a:r>
            <a:r>
              <a:rPr lang="en-HK" altLang="zh-HK" dirty="0">
                <a:solidFill>
                  <a:srgbClr val="800080"/>
                </a:solidFill>
              </a:rPr>
              <a:t>need for more investigation with explanation of the rationale/reasons</a:t>
            </a:r>
            <a:r>
              <a:rPr lang="en-HK" altLang="zh-HK" dirty="0">
                <a:solidFill>
                  <a:schemeClr val="tx1"/>
                </a:solidFill>
              </a:rPr>
              <a:t> for conducting this research.</a:t>
            </a:r>
          </a:p>
          <a:p>
            <a:pPr marL="97200" indent="0" algn="just">
              <a:lnSpc>
                <a:spcPct val="130000"/>
              </a:lnSpc>
              <a:spcBef>
                <a:spcPts val="0"/>
              </a:spcBef>
              <a:buNone/>
              <a:defRPr/>
            </a:pPr>
            <a:endParaRPr lang="en-US" altLang="zh-H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587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HK" b="1" u="sng" dirty="0"/>
              <a:t>Background of Study (Examples)</a:t>
            </a:r>
            <a:endParaRPr lang="en-US" b="1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7ECB71-6BF4-4C4D-8564-BDD91EA079C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32571" y="1186249"/>
            <a:ext cx="6478857" cy="4970847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B53015E3-55D2-454B-B8E4-D8F7FE13A470}"/>
              </a:ext>
            </a:extLst>
          </p:cNvPr>
          <p:cNvSpPr/>
          <p:nvPr/>
        </p:nvSpPr>
        <p:spPr>
          <a:xfrm>
            <a:off x="7659329" y="1563329"/>
            <a:ext cx="530942" cy="648929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83C42-8532-4A11-84E2-93BBD7ED35CB}"/>
              </a:ext>
            </a:extLst>
          </p:cNvPr>
          <p:cNvSpPr txBox="1"/>
          <p:nvPr/>
        </p:nvSpPr>
        <p:spPr>
          <a:xfrm>
            <a:off x="8328537" y="1626183"/>
            <a:ext cx="548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 b="1" dirty="0">
                <a:solidFill>
                  <a:srgbClr val="0066FF"/>
                </a:solidFill>
              </a:rPr>
              <a:t>(i)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1230A9F-A3C5-44CF-AADC-0D218B735993}"/>
              </a:ext>
            </a:extLst>
          </p:cNvPr>
          <p:cNvSpPr/>
          <p:nvPr/>
        </p:nvSpPr>
        <p:spPr>
          <a:xfrm>
            <a:off x="7659329" y="2509738"/>
            <a:ext cx="530942" cy="1993436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FBE48-CF0E-4775-9F1F-BDF8BE77A71E}"/>
              </a:ext>
            </a:extLst>
          </p:cNvPr>
          <p:cNvSpPr txBox="1"/>
          <p:nvPr/>
        </p:nvSpPr>
        <p:spPr>
          <a:xfrm>
            <a:off x="8337138" y="3167390"/>
            <a:ext cx="738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 b="1" dirty="0">
                <a:solidFill>
                  <a:srgbClr val="0066FF"/>
                </a:solidFill>
              </a:rPr>
              <a:t>(ii)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60F3739-7697-4669-8035-150AED0CF7BF}"/>
              </a:ext>
            </a:extLst>
          </p:cNvPr>
          <p:cNvSpPr/>
          <p:nvPr/>
        </p:nvSpPr>
        <p:spPr>
          <a:xfrm>
            <a:off x="7735379" y="4800654"/>
            <a:ext cx="530942" cy="1226520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6593ED-1654-4571-9394-F6305E7AD230}"/>
              </a:ext>
            </a:extLst>
          </p:cNvPr>
          <p:cNvSpPr txBox="1"/>
          <p:nvPr/>
        </p:nvSpPr>
        <p:spPr>
          <a:xfrm>
            <a:off x="8337138" y="5152304"/>
            <a:ext cx="738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 b="1" dirty="0">
                <a:solidFill>
                  <a:srgbClr val="0066FF"/>
                </a:solidFill>
              </a:rPr>
              <a:t>(iii)</a:t>
            </a:r>
          </a:p>
        </p:txBody>
      </p:sp>
    </p:spTree>
    <p:extLst>
      <p:ext uri="{BB962C8B-B14F-4D97-AF65-F5344CB8AC3E}">
        <p14:creationId xmlns:p14="http://schemas.microsoft.com/office/powerpoint/2010/main" val="23878427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HK" b="1" u="sng" dirty="0"/>
              <a:t>Background of Study (Examples)</a:t>
            </a:r>
            <a:endParaRPr lang="en-US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1A6758-175A-4BA5-9CC2-299CC0E40A3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912374" y="1117423"/>
            <a:ext cx="5319252" cy="5065242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ECCD18E2-1830-4F70-8CB0-5340D3ECBEB1}"/>
              </a:ext>
            </a:extLst>
          </p:cNvPr>
          <p:cNvSpPr/>
          <p:nvPr/>
        </p:nvSpPr>
        <p:spPr>
          <a:xfrm>
            <a:off x="7077691" y="1359364"/>
            <a:ext cx="548762" cy="2907836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8B9E4-5046-42E9-9B5E-8E0958225213}"/>
              </a:ext>
            </a:extLst>
          </p:cNvPr>
          <p:cNvSpPr txBox="1"/>
          <p:nvPr/>
        </p:nvSpPr>
        <p:spPr>
          <a:xfrm>
            <a:off x="7807427" y="2507628"/>
            <a:ext cx="548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 b="1" dirty="0">
                <a:solidFill>
                  <a:srgbClr val="0066FF"/>
                </a:solidFill>
              </a:rPr>
              <a:t>(i)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62C7076-E536-4692-A3F9-CF67BBC32DA3}"/>
              </a:ext>
            </a:extLst>
          </p:cNvPr>
          <p:cNvSpPr/>
          <p:nvPr/>
        </p:nvSpPr>
        <p:spPr>
          <a:xfrm>
            <a:off x="7077075" y="4440316"/>
            <a:ext cx="530942" cy="400612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D35C3A-9B3E-4EF6-9B79-C96922BC57ED}"/>
              </a:ext>
            </a:extLst>
          </p:cNvPr>
          <p:cNvSpPr txBox="1"/>
          <p:nvPr/>
        </p:nvSpPr>
        <p:spPr>
          <a:xfrm>
            <a:off x="7807426" y="4352227"/>
            <a:ext cx="707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 b="1" dirty="0">
                <a:solidFill>
                  <a:srgbClr val="0066FF"/>
                </a:solidFill>
              </a:rPr>
              <a:t>(ii)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E92E298-A931-4620-82FC-929F3796F917}"/>
              </a:ext>
            </a:extLst>
          </p:cNvPr>
          <p:cNvSpPr/>
          <p:nvPr/>
        </p:nvSpPr>
        <p:spPr>
          <a:xfrm>
            <a:off x="7077075" y="4840927"/>
            <a:ext cx="530942" cy="1230385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A3467-94B4-432D-9A58-34E2655671B8}"/>
              </a:ext>
            </a:extLst>
          </p:cNvPr>
          <p:cNvSpPr txBox="1"/>
          <p:nvPr/>
        </p:nvSpPr>
        <p:spPr>
          <a:xfrm>
            <a:off x="7807425" y="5194509"/>
            <a:ext cx="707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800" b="1" dirty="0">
                <a:solidFill>
                  <a:srgbClr val="0066FF"/>
                </a:solidFill>
              </a:rPr>
              <a:t>(iii)</a:t>
            </a:r>
          </a:p>
        </p:txBody>
      </p:sp>
    </p:spTree>
    <p:extLst>
      <p:ext uri="{BB962C8B-B14F-4D97-AF65-F5344CB8AC3E}">
        <p14:creationId xmlns:p14="http://schemas.microsoft.com/office/powerpoint/2010/main" val="32405503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HK" b="1" u="sng" dirty="0"/>
              <a:t>(d) Aims and Objectives (Examples)</a:t>
            </a:r>
            <a:endParaRPr lang="en-US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E5387B-830C-4820-A099-C934C1AC030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85930" y="3800812"/>
            <a:ext cx="7063718" cy="2391233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9FC1D0-DEC1-4468-9F0A-C72961E0077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66700" y="1269087"/>
            <a:ext cx="6206560" cy="2290190"/>
          </a:xfrm>
          <a:prstGeom prst="rect">
            <a:avLst/>
          </a:prstGeom>
          <a:ln w="12700"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34840099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3"/>
          <p:cNvSpPr>
            <a:spLocks noGrp="1"/>
          </p:cNvSpPr>
          <p:nvPr>
            <p:ph type="title"/>
          </p:nvPr>
        </p:nvSpPr>
        <p:spPr>
          <a:xfrm>
            <a:off x="322263" y="1717675"/>
            <a:ext cx="5383212" cy="2052638"/>
          </a:xfrm>
        </p:spPr>
        <p:txBody>
          <a:bodyPr/>
          <a:lstStyle/>
          <a:p>
            <a:pPr eaLnBrk="1" hangingPunct="1"/>
            <a:r>
              <a:rPr lang="en-US" altLang="en-US" b="1" dirty="0"/>
              <a:t>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341821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Submission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Type-written, Times New Roman font size 12, 1-inch margin on all sides, single-line spacing, between </a:t>
            </a:r>
            <a:r>
              <a:rPr lang="en-HK" altLang="zh-HK" b="1" dirty="0">
                <a:solidFill>
                  <a:srgbClr val="FF0000"/>
                </a:solidFill>
              </a:rPr>
              <a:t>____ -______ words</a:t>
            </a:r>
            <a:r>
              <a:rPr lang="en-HK" altLang="zh-HK" dirty="0">
                <a:solidFill>
                  <a:schemeClr val="tx1"/>
                </a:solidFill>
              </a:rPr>
              <a:t> (excluding references, tables and appendices). State the word count on the last page.</a:t>
            </a:r>
            <a:r>
              <a:rPr lang="en-HK" altLang="zh-HK" sz="3000" dirty="0">
                <a:solidFill>
                  <a:schemeClr val="tx1"/>
                </a:solidFill>
              </a:rPr>
              <a:t> </a:t>
            </a:r>
            <a:endParaRPr lang="en-US" altLang="zh-HK" sz="30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zh-HK" sz="12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One representative to submit to Turnitin (via Blackboard) and also one softcopy to their respective supervisor via email by the set deadline.  </a:t>
            </a:r>
          </a:p>
          <a:p>
            <a:pPr marL="0" indent="0">
              <a:buNone/>
              <a:defRPr/>
            </a:pPr>
            <a:endParaRPr lang="en-US" altLang="zh-HK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1026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Submission Arrangement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A26F7C4-553D-41A2-9056-5B76274FB9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277429"/>
              </p:ext>
            </p:extLst>
          </p:nvPr>
        </p:nvGraphicFramePr>
        <p:xfrm>
          <a:off x="266700" y="1284571"/>
          <a:ext cx="8464345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50358">
                  <a:extLst>
                    <a:ext uri="{9D8B030D-6E8A-4147-A177-3AD203B41FA5}">
                      <a16:colId xmlns:a16="http://schemas.microsoft.com/office/drawing/2014/main" val="3892045308"/>
                    </a:ext>
                  </a:extLst>
                </a:gridCol>
                <a:gridCol w="2595374">
                  <a:extLst>
                    <a:ext uri="{9D8B030D-6E8A-4147-A177-3AD203B41FA5}">
                      <a16:colId xmlns:a16="http://schemas.microsoft.com/office/drawing/2014/main" val="683703553"/>
                    </a:ext>
                  </a:extLst>
                </a:gridCol>
                <a:gridCol w="1809478">
                  <a:extLst>
                    <a:ext uri="{9D8B030D-6E8A-4147-A177-3AD203B41FA5}">
                      <a16:colId xmlns:a16="http://schemas.microsoft.com/office/drawing/2014/main" val="1989210719"/>
                    </a:ext>
                  </a:extLst>
                </a:gridCol>
                <a:gridCol w="1809135">
                  <a:extLst>
                    <a:ext uri="{9D8B030D-6E8A-4147-A177-3AD203B41FA5}">
                      <a16:colId xmlns:a16="http://schemas.microsoft.com/office/drawing/2014/main" val="3984140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altLang="zh-HK" sz="2400" dirty="0">
                          <a:latin typeface="+mn-lt"/>
                        </a:rPr>
                        <a:t>Turnitin (Blackboard)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sz="2400" dirty="0">
                          <a:latin typeface="+mn-lt"/>
                        </a:rPr>
                        <a:t>Project Supervisor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sz="2400" dirty="0">
                          <a:latin typeface="+mn-lt"/>
                        </a:rPr>
                        <a:t>Project Moderator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78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altLang="zh-HK" sz="2400" dirty="0">
                          <a:latin typeface="+mn-lt"/>
                        </a:rPr>
                        <a:t>Progress Report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altLang="zh-HK" sz="2400" dirty="0">
                          <a:latin typeface="+mn-lt"/>
                        </a:rPr>
                        <a:t>Submit your report with a filename: “</a:t>
                      </a:r>
                      <a:r>
                        <a:rPr lang="en-HK" altLang="zh-HK" sz="2400" i="1" dirty="0">
                          <a:solidFill>
                            <a:srgbClr val="800080"/>
                          </a:solidFill>
                          <a:latin typeface="+mn-lt"/>
                        </a:rPr>
                        <a:t>GroupNo_StudentName_StudentID_progress.doc/pdf</a:t>
                      </a:r>
                      <a:r>
                        <a:rPr lang="en-HK" altLang="zh-HK" sz="2400" dirty="0">
                          <a:latin typeface="+mn-lt"/>
                        </a:rPr>
                        <a:t>”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sz="2400" dirty="0">
                          <a:latin typeface="+mn-lt"/>
                        </a:rPr>
                        <a:t>By email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sz="2400" dirty="0">
                          <a:latin typeface="+mn-lt"/>
                        </a:rPr>
                        <a:t>N/A</a:t>
                      </a:r>
                      <a:endParaRPr lang="zh-HK" altLang="en-US" sz="24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407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863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Why Submit a Progress Report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517496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Purpose is for you to summarise your progress.</a:t>
            </a:r>
            <a:r>
              <a:rPr lang="en-HK" altLang="zh-HK" sz="3000" dirty="0">
                <a:solidFill>
                  <a:schemeClr val="tx1"/>
                </a:solidFill>
              </a:rPr>
              <a:t> </a:t>
            </a:r>
            <a:endParaRPr lang="en-US" altLang="zh-HK" sz="3000" dirty="0">
              <a:solidFill>
                <a:schemeClr val="tx1"/>
              </a:solidFill>
            </a:endParaRPr>
          </a:p>
          <a:p>
            <a:pPr marL="609600" indent="-609600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en-US" altLang="zh-HK" sz="12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Designed to give your supervisor a complete overview of your project work in a concise manner.</a:t>
            </a:r>
          </a:p>
          <a:p>
            <a:pPr marL="97200" indent="0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Should include the following sections:  </a:t>
            </a:r>
            <a:endParaRPr lang="en-US" altLang="zh-HK" sz="1200" dirty="0">
              <a:solidFill>
                <a:schemeClr val="tx1"/>
              </a:solidFill>
            </a:endParaRPr>
          </a:p>
          <a:p>
            <a:pPr marL="971550" lvl="1" indent="-514350" algn="just">
              <a:lnSpc>
                <a:spcPct val="110000"/>
              </a:lnSpc>
              <a:spcBef>
                <a:spcPts val="0"/>
              </a:spcBef>
              <a:buFont typeface="+mj-lt"/>
              <a:buAutoNum type="romanLcPeriod"/>
              <a:defRPr/>
            </a:pPr>
            <a:r>
              <a:rPr lang="en-HK" altLang="zh-HK" dirty="0">
                <a:solidFill>
                  <a:schemeClr val="tx1"/>
                </a:solidFill>
              </a:rPr>
              <a:t> </a:t>
            </a:r>
            <a:r>
              <a:rPr lang="en-HK" altLang="zh-HK" sz="2800" dirty="0">
                <a:solidFill>
                  <a:srgbClr val="800080"/>
                </a:solidFill>
              </a:rPr>
              <a:t>Introduction;</a:t>
            </a:r>
          </a:p>
          <a:p>
            <a:pPr marL="1028700" lvl="1" indent="-571500" algn="just">
              <a:lnSpc>
                <a:spcPct val="110000"/>
              </a:lnSpc>
              <a:spcBef>
                <a:spcPts val="0"/>
              </a:spcBef>
              <a:buFont typeface="+mj-lt"/>
              <a:buAutoNum type="romanLcPeriod"/>
              <a:defRPr/>
            </a:pPr>
            <a:r>
              <a:rPr lang="en-HK" altLang="zh-HK" sz="2800" dirty="0">
                <a:solidFill>
                  <a:schemeClr val="tx1"/>
                </a:solidFill>
              </a:rPr>
              <a:t> </a:t>
            </a:r>
            <a:r>
              <a:rPr lang="en-HK" altLang="zh-HK" sz="2800" dirty="0">
                <a:solidFill>
                  <a:srgbClr val="800080"/>
                </a:solidFill>
              </a:rPr>
              <a:t>Body; </a:t>
            </a:r>
          </a:p>
          <a:p>
            <a:pPr marL="457200" lvl="1" indent="0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HK" altLang="zh-HK" sz="2800" dirty="0">
                <a:solidFill>
                  <a:schemeClr val="tx1"/>
                </a:solidFill>
              </a:rPr>
              <a:t>	- Discussion of achievements</a:t>
            </a:r>
          </a:p>
          <a:p>
            <a:pPr marL="457200" lvl="1" indent="0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HK" altLang="zh-HK" sz="2800" dirty="0">
                <a:solidFill>
                  <a:schemeClr val="tx1"/>
                </a:solidFill>
              </a:rPr>
              <a:t>	- Discussion of problems that have arisen</a:t>
            </a:r>
          </a:p>
          <a:p>
            <a:pPr marL="457200" lvl="1" indent="0" algn="just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HK" altLang="zh-HK" sz="2800" dirty="0">
                <a:solidFill>
                  <a:schemeClr val="tx1"/>
                </a:solidFill>
              </a:rPr>
              <a:t>	- Discussion of remaining work</a:t>
            </a:r>
          </a:p>
          <a:p>
            <a:pPr marL="1028700" lvl="1" indent="-571500" algn="just">
              <a:lnSpc>
                <a:spcPct val="110000"/>
              </a:lnSpc>
              <a:spcBef>
                <a:spcPts val="0"/>
              </a:spcBef>
              <a:buFont typeface="+mj-lt"/>
              <a:buAutoNum type="romanLcPeriod" startAt="3"/>
              <a:defRPr/>
            </a:pPr>
            <a:r>
              <a:rPr lang="en-HK" altLang="zh-HK" sz="2800" dirty="0">
                <a:solidFill>
                  <a:schemeClr val="tx1"/>
                </a:solidFill>
              </a:rPr>
              <a:t> </a:t>
            </a:r>
            <a:r>
              <a:rPr lang="en-HK" altLang="zh-HK" sz="2800" dirty="0">
                <a:solidFill>
                  <a:srgbClr val="800080"/>
                </a:solidFill>
              </a:rPr>
              <a:t>Conclusion.</a:t>
            </a:r>
          </a:p>
        </p:txBody>
      </p:sp>
    </p:spTree>
    <p:extLst>
      <p:ext uri="{BB962C8B-B14F-4D97-AF65-F5344CB8AC3E}">
        <p14:creationId xmlns:p14="http://schemas.microsoft.com/office/powerpoint/2010/main" val="1115145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(i)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Project/time period the report covers, </a:t>
            </a:r>
            <a:r>
              <a:rPr lang="en-HK" altLang="zh-HK" i="1" dirty="0">
                <a:solidFill>
                  <a:srgbClr val="800080"/>
                </a:solidFill>
              </a:rPr>
              <a:t>e.g. November to January</a:t>
            </a:r>
            <a:r>
              <a:rPr lang="en-HK" altLang="zh-HK" dirty="0">
                <a:solidFill>
                  <a:schemeClr val="tx1"/>
                </a:solidFill>
              </a:rPr>
              <a:t>;</a:t>
            </a:r>
            <a:endParaRPr lang="en-US" altLang="zh-HK" sz="3000" dirty="0">
              <a:solidFill>
                <a:schemeClr val="tx1"/>
              </a:solidFill>
            </a:endParaRPr>
          </a:p>
          <a:p>
            <a:pPr marL="97200" indent="0" algn="just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Where the research stands now;</a:t>
            </a:r>
          </a:p>
          <a:p>
            <a:pPr marL="97200" indent="0" algn="just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What you have planned to move the project forward; and </a:t>
            </a:r>
          </a:p>
          <a:p>
            <a:pPr marL="97200" indent="0" algn="just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What the report will discuss overall.</a:t>
            </a:r>
          </a:p>
        </p:txBody>
      </p:sp>
    </p:spTree>
    <p:extLst>
      <p:ext uri="{BB962C8B-B14F-4D97-AF65-F5344CB8AC3E}">
        <p14:creationId xmlns:p14="http://schemas.microsoft.com/office/powerpoint/2010/main" val="2477349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(ii)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621661" cy="5029201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State your project aims/objectives;</a:t>
            </a:r>
          </a:p>
          <a:p>
            <a:pPr marL="97200" indent="0" algn="just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zh-HK" sz="12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Identify tasks accomplished since finalised proposal submission, </a:t>
            </a:r>
            <a:r>
              <a:rPr lang="en-HK" altLang="zh-HK" i="1" dirty="0">
                <a:solidFill>
                  <a:srgbClr val="800080"/>
                </a:solidFill>
              </a:rPr>
              <a:t>e.g. introduction, literature review</a:t>
            </a:r>
            <a:r>
              <a:rPr lang="en-HK" altLang="zh-HK" dirty="0">
                <a:solidFill>
                  <a:schemeClr val="tx1"/>
                </a:solidFill>
              </a:rPr>
              <a:t>;</a:t>
            </a:r>
          </a:p>
          <a:p>
            <a:pPr marL="97200" indent="0" algn="just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Discuss problems that you have encountered, issues that need to be addressed and how you solve them;</a:t>
            </a:r>
          </a:p>
          <a:p>
            <a:pPr marL="97200" indent="0" algn="just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Discuss changes that may have occurred to your project plan along the way and why, </a:t>
            </a:r>
            <a:r>
              <a:rPr lang="en-HK" altLang="zh-HK" i="1" dirty="0">
                <a:solidFill>
                  <a:srgbClr val="800080"/>
                </a:solidFill>
              </a:rPr>
              <a:t>e.g. change in research direction or methodology</a:t>
            </a:r>
            <a:r>
              <a:rPr lang="en-HK" altLang="zh-HK" dirty="0">
                <a:solidFill>
                  <a:schemeClr val="tx1"/>
                </a:solidFill>
              </a:rPr>
              <a:t>;</a:t>
            </a:r>
          </a:p>
          <a:p>
            <a:pPr marL="97200" indent="0" algn="just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Describe what is next – gives supervisor an idea on how to provide suggestions etc.</a:t>
            </a:r>
          </a:p>
        </p:txBody>
      </p:sp>
    </p:spTree>
    <p:extLst>
      <p:ext uri="{BB962C8B-B14F-4D97-AF65-F5344CB8AC3E}">
        <p14:creationId xmlns:p14="http://schemas.microsoft.com/office/powerpoint/2010/main" val="24077427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(iii)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Should convey your general attitude about the project’s status;</a:t>
            </a:r>
            <a:endParaRPr lang="en-US" altLang="zh-HK" sz="3000" dirty="0">
              <a:solidFill>
                <a:schemeClr val="tx1"/>
              </a:solidFill>
            </a:endParaRPr>
          </a:p>
          <a:p>
            <a:pPr marL="97200" indent="0" algn="just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Help your supervisor to know how they can ensure the project can be completed successfully.</a:t>
            </a:r>
          </a:p>
          <a:p>
            <a:pPr marL="97200" indent="0" algn="just"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5911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3"/>
          <p:cNvSpPr>
            <a:spLocks noGrp="1"/>
          </p:cNvSpPr>
          <p:nvPr>
            <p:ph type="title"/>
          </p:nvPr>
        </p:nvSpPr>
        <p:spPr>
          <a:xfrm>
            <a:off x="322263" y="1717675"/>
            <a:ext cx="5383212" cy="2052638"/>
          </a:xfrm>
        </p:spPr>
        <p:txBody>
          <a:bodyPr/>
          <a:lstStyle/>
          <a:p>
            <a:pPr eaLnBrk="1" hangingPunct="1"/>
            <a:r>
              <a:rPr lang="en-US" altLang="en-US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4855087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513507" cy="4891859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rgbClr val="0066FF"/>
                </a:solidFill>
              </a:rPr>
              <a:t>Everyone needs to contribute as it is a group project.</a:t>
            </a:r>
            <a:endParaRPr lang="en-HK" altLang="zh-HK" sz="1200" dirty="0">
              <a:solidFill>
                <a:srgbClr val="0066FF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rgbClr val="0066FF"/>
                </a:solidFill>
              </a:rPr>
              <a:t>Remember deadline even there would be reminding emails. 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rgbClr val="FF0000"/>
                </a:solidFill>
              </a:rPr>
              <a:t>Manage your time good enough!</a:t>
            </a:r>
          </a:p>
          <a:p>
            <a:pPr marL="97200" indent="0" algn="just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rgbClr val="0066FF"/>
                </a:solidFill>
              </a:rPr>
              <a:t>We are ready for any needed help but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sz="3000" dirty="0">
                <a:solidFill>
                  <a:srgbClr val="FF0000"/>
                </a:solidFill>
              </a:rPr>
              <a:t>Voice out your problem asap!</a:t>
            </a:r>
          </a:p>
          <a:p>
            <a:pPr marL="97200" indent="0" algn="just">
              <a:lnSpc>
                <a:spcPct val="120000"/>
              </a:lnSpc>
              <a:spcBef>
                <a:spcPts val="0"/>
              </a:spcBef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rgbClr val="7030A0"/>
                </a:solidFill>
              </a:rPr>
              <a:t>Make sure you love your project, and the friendship between you and your groupmates!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rgbClr val="A50021"/>
                </a:solidFill>
              </a:rPr>
              <a:t>Treasure this great opportunity to work out a good project to conclude your study here in </a:t>
            </a:r>
            <a:r>
              <a:rPr lang="en-HK" altLang="zh-HK" dirty="0" err="1">
                <a:solidFill>
                  <a:srgbClr val="A50021"/>
                </a:solidFill>
              </a:rPr>
              <a:t>PolyU</a:t>
            </a:r>
            <a:r>
              <a:rPr lang="en-HK" altLang="zh-HK" dirty="0">
                <a:solidFill>
                  <a:srgbClr val="A50021"/>
                </a:solidFill>
              </a:rPr>
              <a:t>. </a:t>
            </a:r>
            <a:r>
              <a:rPr lang="en-HK" altLang="zh-HK" sz="3900" b="1" dirty="0">
                <a:solidFill>
                  <a:srgbClr val="A50021"/>
                </a:solidFill>
                <a:highlight>
                  <a:srgbClr val="FFFF00"/>
                </a:highlight>
              </a:rPr>
              <a:t>Good conclusion!</a:t>
            </a:r>
          </a:p>
          <a:p>
            <a:pPr marL="97200" indent="0" algn="just">
              <a:buNone/>
              <a:defRPr/>
            </a:pPr>
            <a:endParaRPr lang="en-HK" altLang="zh-HK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5707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green, ship, watercraft&#10;&#10;Description automatically generated">
            <a:extLst>
              <a:ext uri="{FF2B5EF4-FFF2-40B4-BE49-F238E27FC236}">
                <a16:creationId xmlns:a16="http://schemas.microsoft.com/office/drawing/2014/main" id="{213A3554-8589-D66E-02AA-9C6645EFE07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881" y="4366032"/>
            <a:ext cx="3778206" cy="2517820"/>
          </a:xfrm>
          <a:prstGeom prst="rect">
            <a:avLst/>
          </a:prstGeom>
        </p:spPr>
      </p:pic>
      <p:pic>
        <p:nvPicPr>
          <p:cNvPr id="12" name="Picture 11" descr="A picture containing water, sky, outdoor, boat&#10;&#10;Description automatically generated">
            <a:extLst>
              <a:ext uri="{FF2B5EF4-FFF2-40B4-BE49-F238E27FC236}">
                <a16:creationId xmlns:a16="http://schemas.microsoft.com/office/drawing/2014/main" id="{372C2091-8277-DCDF-6261-B56CE32DD7D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768" y="138609"/>
            <a:ext cx="3859319" cy="2168938"/>
          </a:xfrm>
          <a:prstGeom prst="rect">
            <a:avLst/>
          </a:prstGeom>
        </p:spPr>
      </p:pic>
      <p:pic>
        <p:nvPicPr>
          <p:cNvPr id="7" name="Picture 6" descr="A picture containing text, green, electronics&#10;&#10;Description automatically generated">
            <a:extLst>
              <a:ext uri="{FF2B5EF4-FFF2-40B4-BE49-F238E27FC236}">
                <a16:creationId xmlns:a16="http://schemas.microsoft.com/office/drawing/2014/main" id="{0D4B41E2-2A9F-44A3-D2C8-A69C42054395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3" y="3950519"/>
            <a:ext cx="5168855" cy="2907481"/>
          </a:xfrm>
          <a:prstGeom prst="rect">
            <a:avLst/>
          </a:prstGeom>
        </p:spPr>
      </p:pic>
      <p:pic>
        <p:nvPicPr>
          <p:cNvPr id="3" name="Picture 2" descr="A large ship in the water&#10;&#10;Description automatically generated with medium confidence">
            <a:extLst>
              <a:ext uri="{FF2B5EF4-FFF2-40B4-BE49-F238E27FC236}">
                <a16:creationId xmlns:a16="http://schemas.microsoft.com/office/drawing/2014/main" id="{2755AFF0-ACA2-DC1E-4C0E-151F7CDF419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798" y="2385371"/>
            <a:ext cx="3257289" cy="1889907"/>
          </a:xfrm>
          <a:prstGeom prst="rect">
            <a:avLst/>
          </a:prstGeom>
        </p:spPr>
      </p:pic>
      <p:pic>
        <p:nvPicPr>
          <p:cNvPr id="10" name="Picture 9" descr="A picture containing outdoor, boat, power shovel, dock&#10;&#10;Description automatically generated">
            <a:extLst>
              <a:ext uri="{FF2B5EF4-FFF2-40B4-BE49-F238E27FC236}">
                <a16:creationId xmlns:a16="http://schemas.microsoft.com/office/drawing/2014/main" id="{57B9FA76-FF88-790F-DE94-6300C36AD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01" y="138609"/>
            <a:ext cx="4962421" cy="297745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720F8C17-398A-AB71-6628-8A5C726D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3" y="3175745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A big ship for maiden voyage!</a:t>
            </a:r>
          </a:p>
        </p:txBody>
      </p:sp>
      <p:pic>
        <p:nvPicPr>
          <p:cNvPr id="14" name="Picture 13" descr="Curious Chicken">
            <a:extLst>
              <a:ext uri="{FF2B5EF4-FFF2-40B4-BE49-F238E27FC236}">
                <a16:creationId xmlns:a16="http://schemas.microsoft.com/office/drawing/2014/main" id="{6FD972F1-88C6-9A58-84A8-6E1257CD7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847" y="1658932"/>
            <a:ext cx="1770068" cy="177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895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71EC-83EF-6E04-F2EC-8333231B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Bon voyage</a:t>
            </a:r>
          </a:p>
        </p:txBody>
      </p:sp>
      <p:pic>
        <p:nvPicPr>
          <p:cNvPr id="5" name="Picture 4" descr="A picture containing text, writing implement, stationary, pen&#10;&#10;Description automatically generated">
            <a:extLst>
              <a:ext uri="{FF2B5EF4-FFF2-40B4-BE49-F238E27FC236}">
                <a16:creationId xmlns:a16="http://schemas.microsoft.com/office/drawing/2014/main" id="{A7517D96-C335-D963-8B51-E53DD748A0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635" y="650782"/>
            <a:ext cx="5509365" cy="6207218"/>
          </a:xfrm>
          <a:prstGeom prst="rect">
            <a:avLst/>
          </a:prstGeom>
        </p:spPr>
      </p:pic>
      <p:pic>
        <p:nvPicPr>
          <p:cNvPr id="6" name="Picture 5" descr="Thumbs Up Chicken">
            <a:extLst>
              <a:ext uri="{FF2B5EF4-FFF2-40B4-BE49-F238E27FC236}">
                <a16:creationId xmlns:a16="http://schemas.microsoft.com/office/drawing/2014/main" id="{485269C2-87FE-1650-F956-318B868C0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057" y="1216319"/>
            <a:ext cx="4689057" cy="468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030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3"/>
          <p:cNvSpPr>
            <a:spLocks noGrp="1"/>
          </p:cNvSpPr>
          <p:nvPr>
            <p:ph type="title"/>
          </p:nvPr>
        </p:nvSpPr>
        <p:spPr>
          <a:xfrm>
            <a:off x="322263" y="1717675"/>
            <a:ext cx="5383212" cy="2052638"/>
          </a:xfrm>
        </p:spPr>
        <p:txBody>
          <a:bodyPr/>
          <a:lstStyle/>
          <a:p>
            <a:pPr eaLnBrk="1" hangingPunct="1"/>
            <a:r>
              <a:rPr lang="en-US" altLang="en-US" b="1" dirty="0"/>
              <a:t>Reference Materials</a:t>
            </a:r>
          </a:p>
        </p:txBody>
      </p:sp>
    </p:spTree>
    <p:extLst>
      <p:ext uri="{BB962C8B-B14F-4D97-AF65-F5344CB8AC3E}">
        <p14:creationId xmlns:p14="http://schemas.microsoft.com/office/powerpoint/2010/main" val="17688156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543696"/>
            <a:ext cx="8248650" cy="642553"/>
          </a:xfrm>
        </p:spPr>
        <p:txBody>
          <a:bodyPr>
            <a:normAutofit/>
          </a:bodyPr>
          <a:lstStyle/>
          <a:p>
            <a:r>
              <a:rPr lang="en-US" b="1" u="sng" dirty="0"/>
              <a:t>Reference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99" y="1285103"/>
            <a:ext cx="8704305" cy="489185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Saunders, M.N.K., Lewis, P. and Thornhill, A. (2019) </a:t>
            </a:r>
            <a:r>
              <a:rPr lang="en-HK" altLang="zh-HK" i="1" dirty="0">
                <a:solidFill>
                  <a:schemeClr val="tx1"/>
                </a:solidFill>
              </a:rPr>
              <a:t>Research Methods for Business Students</a:t>
            </a:r>
            <a:r>
              <a:rPr lang="en-HK" altLang="zh-HK" dirty="0">
                <a:solidFill>
                  <a:schemeClr val="tx1"/>
                </a:solidFill>
              </a:rPr>
              <a:t>, 8</a:t>
            </a:r>
            <a:r>
              <a:rPr lang="en-HK" altLang="zh-HK" baseline="30000" dirty="0">
                <a:solidFill>
                  <a:schemeClr val="tx1"/>
                </a:solidFill>
              </a:rPr>
              <a:t>th</a:t>
            </a:r>
            <a:r>
              <a:rPr lang="en-HK" altLang="zh-HK" dirty="0">
                <a:solidFill>
                  <a:schemeClr val="tx1"/>
                </a:solidFill>
              </a:rPr>
              <a:t> Ed, Pearson: Harlow. [Online access]</a:t>
            </a:r>
            <a:r>
              <a:rPr lang="en-HK" altLang="zh-HK" sz="3000" dirty="0">
                <a:solidFill>
                  <a:schemeClr val="tx1"/>
                </a:solidFill>
              </a:rPr>
              <a:t> </a:t>
            </a:r>
            <a:r>
              <a:rPr lang="en-GB" altLang="zh-HK" dirty="0">
                <a:cs typeface="Times New Roman" panose="02020603050405020304" pitchFamily="18" charset="0"/>
                <a:hlinkClick r:id="rId2"/>
              </a:rPr>
              <a:t>https://ebookcentral.proquest.com/lib/polyu-ebooks/detail.action?docID=5774742</a:t>
            </a:r>
            <a:endParaRPr lang="en-GB" altLang="zh-HK" dirty="0">
              <a:cs typeface="Times New Roman" panose="02020603050405020304" pitchFamily="18" charset="0"/>
            </a:endParaRPr>
          </a:p>
          <a:p>
            <a:pPr marL="9720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zh-HK" sz="13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09600" indent="-60960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zh-HK" sz="12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HK" altLang="zh-HK" dirty="0">
                <a:solidFill>
                  <a:schemeClr val="tx1"/>
                </a:solidFill>
              </a:rPr>
              <a:t>Hair Jr., J.F., Page, M. and </a:t>
            </a:r>
            <a:r>
              <a:rPr lang="en-HK" altLang="zh-HK" dirty="0" err="1">
                <a:solidFill>
                  <a:schemeClr val="tx1"/>
                </a:solidFill>
              </a:rPr>
              <a:t>Brunsveld</a:t>
            </a:r>
            <a:r>
              <a:rPr lang="en-HK" altLang="zh-HK" dirty="0">
                <a:solidFill>
                  <a:schemeClr val="tx1"/>
                </a:solidFill>
              </a:rPr>
              <a:t>, N. (2019) </a:t>
            </a:r>
            <a:r>
              <a:rPr lang="en-HK" altLang="zh-HK" i="1" dirty="0">
                <a:solidFill>
                  <a:schemeClr val="tx1"/>
                </a:solidFill>
              </a:rPr>
              <a:t>Essentials of Business Research Methods</a:t>
            </a:r>
            <a:r>
              <a:rPr lang="en-HK" altLang="zh-HK" dirty="0">
                <a:solidFill>
                  <a:schemeClr val="tx1"/>
                </a:solidFill>
              </a:rPr>
              <a:t>, 4</a:t>
            </a:r>
            <a:r>
              <a:rPr lang="en-HK" altLang="zh-HK" baseline="30000" dirty="0">
                <a:solidFill>
                  <a:schemeClr val="tx1"/>
                </a:solidFill>
              </a:rPr>
              <a:t>th</a:t>
            </a:r>
            <a:r>
              <a:rPr lang="en-HK" altLang="zh-HK" dirty="0">
                <a:solidFill>
                  <a:schemeClr val="tx1"/>
                </a:solidFill>
              </a:rPr>
              <a:t> Ed, Routledge: Florence. [Online access] </a:t>
            </a:r>
            <a:r>
              <a:rPr lang="en-GB" altLang="zh-HK" dirty="0">
                <a:hlinkClick r:id="rId3"/>
              </a:rPr>
              <a:t>https://ebookcentral.proquest.com/lib/polyu-ebooks/detail.action?docID=2166415</a:t>
            </a:r>
            <a:endParaRPr lang="en-HK" altLang="zh-HK" dirty="0">
              <a:solidFill>
                <a:schemeClr val="tx1"/>
              </a:solidFill>
            </a:endParaRPr>
          </a:p>
          <a:p>
            <a:pPr marL="97200" indent="0" algn="just">
              <a:buNone/>
              <a:defRPr/>
            </a:pPr>
            <a:endParaRPr lang="en-US" altLang="zh-HK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2541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3"/>
          <p:cNvSpPr>
            <a:spLocks noGrp="1"/>
          </p:cNvSpPr>
          <p:nvPr>
            <p:ph type="title"/>
          </p:nvPr>
        </p:nvSpPr>
        <p:spPr>
          <a:xfrm>
            <a:off x="322263" y="1717675"/>
            <a:ext cx="5383212" cy="2052638"/>
          </a:xfrm>
        </p:spPr>
        <p:txBody>
          <a:bodyPr/>
          <a:lstStyle/>
          <a:p>
            <a:pPr eaLnBrk="1" hangingPunct="1"/>
            <a:r>
              <a:rPr lang="en-US" altLang="en-US" b="1" dirty="0"/>
              <a:t>Library Resources</a:t>
            </a:r>
          </a:p>
        </p:txBody>
      </p:sp>
    </p:spTree>
    <p:extLst>
      <p:ext uri="{BB962C8B-B14F-4D97-AF65-F5344CB8AC3E}">
        <p14:creationId xmlns:p14="http://schemas.microsoft.com/office/powerpoint/2010/main" val="762304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B74FF3-09CB-0686-C04A-8E871E83569C}"/>
              </a:ext>
            </a:extLst>
          </p:cNvPr>
          <p:cNvSpPr/>
          <p:nvPr/>
        </p:nvSpPr>
        <p:spPr>
          <a:xfrm>
            <a:off x="0" y="0"/>
            <a:ext cx="91350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48214-AB8A-6156-7AE9-A8AD733B4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2920" y="3638775"/>
            <a:ext cx="4617283" cy="2991775"/>
          </a:xfrm>
        </p:spPr>
        <p:txBody>
          <a:bodyPr>
            <a:normAutofit/>
          </a:bodyPr>
          <a:lstStyle/>
          <a:p>
            <a:r>
              <a:rPr lang="en-HK" sz="4000" b="1" i="1" dirty="0">
                <a:solidFill>
                  <a:schemeClr val="accent5"/>
                </a:solidFill>
                <a:latin typeface="Brush Script MT" panose="03060802040406070304" pitchFamily="66" charset="0"/>
              </a:rPr>
              <a:t>To start with passion,</a:t>
            </a:r>
          </a:p>
          <a:p>
            <a:r>
              <a:rPr lang="en-HK" sz="4000" b="1" i="1" dirty="0">
                <a:solidFill>
                  <a:schemeClr val="accent5"/>
                </a:solidFill>
                <a:latin typeface="Brush Script MT" panose="03060802040406070304" pitchFamily="66" charset="0"/>
              </a:rPr>
              <a:t>To do with passion,</a:t>
            </a:r>
          </a:p>
          <a:p>
            <a:r>
              <a:rPr lang="en-HK" sz="4000" b="1" i="1" dirty="0">
                <a:solidFill>
                  <a:schemeClr val="accent5"/>
                </a:solidFill>
                <a:latin typeface="Brush Script MT" panose="03060802040406070304" pitchFamily="66" charset="0"/>
              </a:rPr>
              <a:t>To end with passion.</a:t>
            </a:r>
          </a:p>
          <a:p>
            <a:r>
              <a:rPr lang="en-HK" sz="4000" b="1" i="1" dirty="0">
                <a:solidFill>
                  <a:schemeClr val="accent5"/>
                </a:solidFill>
                <a:latin typeface="Brush Script MT" panose="03060802040406070304" pitchFamily="66" charset="0"/>
              </a:rPr>
              <a:t>The result must be good!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51E89-C70E-8EF8-9142-D3450EE6E29A}"/>
              </a:ext>
            </a:extLst>
          </p:cNvPr>
          <p:cNvSpPr txBox="1"/>
          <p:nvPr/>
        </p:nvSpPr>
        <p:spPr>
          <a:xfrm>
            <a:off x="133165" y="6306875"/>
            <a:ext cx="6662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dirty="0"/>
              <a:t>https://www.youtube.com/watch?v=lCwxwEUELrE</a:t>
            </a:r>
          </a:p>
        </p:txBody>
      </p:sp>
      <p:pic>
        <p:nvPicPr>
          <p:cNvPr id="8" name="Picture 7" descr="A picture containing water, outdoor, sky, boat&#10;&#10;Description automatically generated">
            <a:extLst>
              <a:ext uri="{FF2B5EF4-FFF2-40B4-BE49-F238E27FC236}">
                <a16:creationId xmlns:a16="http://schemas.microsoft.com/office/drawing/2014/main" id="{11655E4D-5F26-9C13-7CA1-0C9E0F20B0E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05" y="3638775"/>
            <a:ext cx="4153311" cy="1908699"/>
          </a:xfrm>
          <a:prstGeom prst="rect">
            <a:avLst/>
          </a:prstGeom>
        </p:spPr>
      </p:pic>
      <p:pic>
        <p:nvPicPr>
          <p:cNvPr id="10" name="Picture 9" descr="A large ship on the water&#10;&#10;Description automatically generated with low confidence">
            <a:extLst>
              <a:ext uri="{FF2B5EF4-FFF2-40B4-BE49-F238E27FC236}">
                <a16:creationId xmlns:a16="http://schemas.microsoft.com/office/drawing/2014/main" id="{8A87C205-6F27-EE59-1605-46AFEED2447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5" y="181792"/>
            <a:ext cx="7321956" cy="339710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17FF40-7CBE-2161-9DCC-42D308485877}"/>
              </a:ext>
            </a:extLst>
          </p:cNvPr>
          <p:cNvCxnSpPr>
            <a:cxnSpLocks/>
          </p:cNvCxnSpPr>
          <p:nvPr/>
        </p:nvCxnSpPr>
        <p:spPr>
          <a:xfrm flipV="1">
            <a:off x="1579164" y="981358"/>
            <a:ext cx="4429957" cy="23281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62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B49F-ED66-88DC-B156-86E2A524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Question &amp; Answer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F5283-633B-5F77-D6CC-54DF66FA5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Dr Judy Tong: </a:t>
            </a:r>
            <a:r>
              <a:rPr lang="en-HK" dirty="0">
                <a:hlinkClick r:id="rId2"/>
              </a:rPr>
              <a:t>judy.fa.tong@polyu.edu.hk</a:t>
            </a:r>
            <a:endParaRPr lang="en-HK" dirty="0"/>
          </a:p>
          <a:p>
            <a:r>
              <a:rPr lang="en-HK" dirty="0"/>
              <a:t>Dr Patrick Tsang: </a:t>
            </a:r>
            <a:r>
              <a:rPr lang="en-HK" dirty="0">
                <a:hlinkClick r:id="rId3"/>
              </a:rPr>
              <a:t>ht.tsang@polyu.edu.hk</a:t>
            </a:r>
            <a:r>
              <a:rPr lang="en-H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32744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65B6-E09F-CE52-980E-F4ACC33A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32950166"/>
      </p:ext>
    </p:extLst>
  </p:cSld>
  <p:clrMapOvr>
    <a:masterClrMapping/>
  </p:clrMapOvr>
</p:sld>
</file>

<file path=ppt/theme/theme1.xml><?xml version="1.0" encoding="utf-8"?>
<a:theme xmlns:a="http://schemas.openxmlformats.org/drawingml/2006/main" name="PolyU PowerPoin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lyU PowerPoint Template.potx" id="{E764C88A-3F4D-4507-BBB9-91228AAE1803}" vid="{F59133E1-B675-43DD-959C-EDA83C074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31227</TotalTime>
  <Words>2808</Words>
  <Application>Microsoft Macintosh PowerPoint</Application>
  <PresentationFormat>On-screen Show (4:3)</PresentationFormat>
  <Paragraphs>364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5" baseType="lpstr">
      <vt:lpstr>Brush Script MT</vt:lpstr>
      <vt:lpstr>微軟正黑體</vt:lpstr>
      <vt:lpstr>新細明體</vt:lpstr>
      <vt:lpstr>Arial</vt:lpstr>
      <vt:lpstr>Calibri</vt:lpstr>
      <vt:lpstr>Times New Roman</vt:lpstr>
      <vt:lpstr>Wingdings</vt:lpstr>
      <vt:lpstr>PolyU PowerPoint Template</vt:lpstr>
      <vt:lpstr>Week 1 – Overview of Capstone Project, Finalised Proposal and Progress Report Writing</vt:lpstr>
      <vt:lpstr>About myself</vt:lpstr>
      <vt:lpstr>Capstone Project Coordinators</vt:lpstr>
      <vt:lpstr>Capstone Project Coordinators</vt:lpstr>
      <vt:lpstr>Capstone Project Coordinators</vt:lpstr>
      <vt:lpstr>PowerPoint Presentation</vt:lpstr>
      <vt:lpstr>PowerPoint Presentation</vt:lpstr>
      <vt:lpstr>Agenda</vt:lpstr>
      <vt:lpstr>Introduction</vt:lpstr>
      <vt:lpstr>What is capstone project all about?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 need to make sure…</vt:lpstr>
      <vt:lpstr>Seminar Speakers</vt:lpstr>
      <vt:lpstr>Capstone Seminar Schedule from Week 1 to 3:</vt:lpstr>
      <vt:lpstr>What is Capstone Project?</vt:lpstr>
      <vt:lpstr>Assessment Criteria</vt:lpstr>
      <vt:lpstr>Submission Timeline</vt:lpstr>
      <vt:lpstr>Submission arrangement:  </vt:lpstr>
      <vt:lpstr>Project Nature</vt:lpstr>
      <vt:lpstr>Project Areas</vt:lpstr>
      <vt:lpstr>Final Grade and Grade Descriptors</vt:lpstr>
      <vt:lpstr>Plagiarism</vt:lpstr>
      <vt:lpstr>Structure of Capstone Project Final Report</vt:lpstr>
      <vt:lpstr>Finalised Project Proposal</vt:lpstr>
      <vt:lpstr>Submission Guidelines</vt:lpstr>
      <vt:lpstr>Submission Arrangement</vt:lpstr>
      <vt:lpstr>Contents of Proposal</vt:lpstr>
      <vt:lpstr>Template</vt:lpstr>
      <vt:lpstr>Sample</vt:lpstr>
      <vt:lpstr>(a) Project Title</vt:lpstr>
      <vt:lpstr>Project Titles from Previous Years</vt:lpstr>
      <vt:lpstr>Project Titles from Previous Years</vt:lpstr>
      <vt:lpstr>Project Titles from Previous Years</vt:lpstr>
      <vt:lpstr>Project Titles from Previous Years</vt:lpstr>
      <vt:lpstr>Project Titles from Previous Years</vt:lpstr>
      <vt:lpstr>Project Titles from Previous Years (2023-24)</vt:lpstr>
      <vt:lpstr>Best LMS Capstone Projects in the past:</vt:lpstr>
      <vt:lpstr>(b) Background of Study</vt:lpstr>
      <vt:lpstr>Background of Study (Examples)</vt:lpstr>
      <vt:lpstr>Background of Study (Examples)</vt:lpstr>
      <vt:lpstr>(d) Aims and Objectives (Examples)</vt:lpstr>
      <vt:lpstr>Progress Report</vt:lpstr>
      <vt:lpstr>Submission Guidelines</vt:lpstr>
      <vt:lpstr>Submission Arrangement</vt:lpstr>
      <vt:lpstr>Why Submit a Progress Report </vt:lpstr>
      <vt:lpstr>(i) Introduction</vt:lpstr>
      <vt:lpstr>(ii) Body</vt:lpstr>
      <vt:lpstr>(iii) Conclusion</vt:lpstr>
      <vt:lpstr>Summary</vt:lpstr>
      <vt:lpstr>Summary</vt:lpstr>
      <vt:lpstr>A big ship for maiden voyage!</vt:lpstr>
      <vt:lpstr>Bon voyage</vt:lpstr>
      <vt:lpstr>Reference Materials</vt:lpstr>
      <vt:lpstr>Reference books</vt:lpstr>
      <vt:lpstr>Library Resources</vt:lpstr>
      <vt:lpstr>PowerPoint Presentation</vt:lpstr>
      <vt:lpstr>Question &amp; Answer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– Overview of Capstone Project, Finalised Proposal and Progress Report Writing</dc:title>
  <dc:creator>PANG, Kelvin KL [LMS]</dc:creator>
  <cp:lastModifiedBy>DAI, Ci Jun [Student]</cp:lastModifiedBy>
  <cp:revision>181</cp:revision>
  <cp:lastPrinted>2024-09-03T04:13:52Z</cp:lastPrinted>
  <dcterms:created xsi:type="dcterms:W3CDTF">2020-08-13T12:21:25Z</dcterms:created>
  <dcterms:modified xsi:type="dcterms:W3CDTF">2025-09-01T01:29:26Z</dcterms:modified>
</cp:coreProperties>
</file>